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</p:sldMasterIdLst>
  <p:notesMasterIdLst>
    <p:notesMasterId r:id="rId23"/>
  </p:notesMasterIdLst>
  <p:handoutMasterIdLst>
    <p:handoutMasterId r:id="rId24"/>
  </p:handoutMasterIdLst>
  <p:sldIdLst>
    <p:sldId id="2147478628" r:id="rId7"/>
    <p:sldId id="2147478629" r:id="rId8"/>
    <p:sldId id="2147478654" r:id="rId9"/>
    <p:sldId id="2147478644" r:id="rId10"/>
    <p:sldId id="2147478652" r:id="rId11"/>
    <p:sldId id="2147478640" r:id="rId12"/>
    <p:sldId id="2147478646" r:id="rId13"/>
    <p:sldId id="2147478641" r:id="rId14"/>
    <p:sldId id="2147478642" r:id="rId15"/>
    <p:sldId id="2147478643" r:id="rId16"/>
    <p:sldId id="2147478647" r:id="rId17"/>
    <p:sldId id="2147478648" r:id="rId18"/>
    <p:sldId id="2147478649" r:id="rId19"/>
    <p:sldId id="2147478650" r:id="rId20"/>
    <p:sldId id="2147478653" r:id="rId21"/>
    <p:sldId id="4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60D113-2F1E-0E4F-78EA-866A361B3D0C}" name="Bharanitharan Jaganathan" initials="BJ" userId="S::bharanitharan.jagan@zucisystems.com::e868ea6f-b45e-404a-9e08-1f644c31788e" providerId="AD"/>
  <p188:author id="{4FC2E521-31C1-3E87-A09D-0A06801A1E95}" name="Supriya Santhanakrishnan" initials="SS" userId="S::supriya.krishnan@zucisystems.com::49782857-b28d-46c7-adba-96e70589969d" providerId="AD"/>
  <p188:author id="{83E86062-BF37-502E-EC86-C2B0D5F76895}" name="Aarthi Srinath" initials="AS" userId="S::aarthi.srinath@zucisystems.com::44ac82a0-65b4-4aa9-9538-44e2ab493d9e" providerId="AD"/>
  <p188:author id="{45F932EE-C63A-3B91-3EA3-0B0F98A6D062}" name="Srinivasan Sundharam" initials="SS" userId="S::srinivasan.sundharam@zucisystems.com::71b5ceaf-4d80-4ab6-82ac-82df55a9cf99" providerId="AD"/>
  <p188:author id="{794C77F2-04DB-D4AF-BFD5-5F0587EC6C41}" name="Ramaa Pratyusha" initials="" userId="S::ramaa.pratyusha@zucisystems.com::0092e0b9-28c4-45d7-9281-eec8572452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7F8D"/>
    <a:srgbClr val="05418C"/>
    <a:srgbClr val="1D265E"/>
    <a:srgbClr val="1A1A2E"/>
    <a:srgbClr val="2F376D"/>
    <a:srgbClr val="1E2761"/>
    <a:srgbClr val="F6F8FC"/>
    <a:srgbClr val="1F1F20"/>
    <a:srgbClr val="797F8C"/>
    <a:srgbClr val="4B2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7" dt="2026-09-20T05:12:44.377"/>
    <p1510:client id="{2586DF70-2EDC-D91B-6224-F90AF0A1CE4D}" v="150" dt="2026-09-19T16:38:29.213"/>
    <p1510:client id="{285C08C9-9322-4D15-AC1D-446E9965124F}" v="625" dt="2026-09-20T04:41:49.220"/>
    <p1510:client id="{51D07E26-3150-D460-CF85-049558CB9D93}" v="52" dt="2026-09-20T08:33:20.972"/>
    <p1510:client id="{64D582EE-BD46-D127-42FF-4AFA910902A5}" v="214" dt="2026-09-19T20:29:40.225"/>
    <p1510:client id="{719D9094-732C-440E-6417-14ABD9FED844}" v="16" dt="2026-09-20T06:11:41.143"/>
    <p1510:client id="{881A7F01-3DEC-D965-664A-974A8DC5FA8F}" v="2" dt="2026-09-20T04:33:57.112"/>
    <p1510:client id="{9FBAB594-09F4-222E-3FA3-30CB6F478F19}" v="1" dt="2026-09-20T05:17:59.503"/>
    <p1510:client id="{C82B54EC-B9B2-7863-916B-B7A38FE9218A}" v="569" dt="2026-09-19T20:34:44.873"/>
    <p1510:client id="{DC6EAB98-0DA8-8522-C20D-96A50F72EA1C}" v="21" dt="2026-09-20T03:56:56.714"/>
    <p1510:client id="{E20A24F9-45E7-9535-2509-6324FE7B3E87}" v="10" dt="2026-09-19T13:20:03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7FFFEC72_8C26C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880-454E-A6C4-FFA133532AF4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880-454E-A6C4-FFA133532AF4}"/>
              </c:ext>
            </c:extLst>
          </c:dPt>
          <c:dPt>
            <c:idx val="2"/>
            <c:bubble3D val="0"/>
            <c:spPr>
              <a:solidFill>
                <a:srgbClr val="9FB8E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880-454E-A6C4-FFA133532AF4}"/>
              </c:ext>
            </c:extLst>
          </c:dPt>
          <c:dPt>
            <c:idx val="3"/>
            <c:bubble3D val="0"/>
            <c:spPr>
              <a:solidFill>
                <a:srgbClr val="CADCFC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C880-454E-A6C4-FFA133532AF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FFFFFF"/>
                        </a:solidFill>
                      </a:rPr>
                      <a:t>45%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880-454E-A6C4-FFA133532A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A1A2E"/>
                        </a:solidFill>
                      </a:rPr>
                      <a:t>30%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880-454E-A6C4-FFA133532A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A1A2E"/>
                        </a:solidFill>
                      </a:rPr>
                      <a:t>15%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880-454E-A6C4-FFA133532A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A1A2E"/>
                        </a:solidFill>
                      </a:rPr>
                      <a:t>10%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880-454E-A6C4-FFA133532A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BFSI</c:v>
                </c:pt>
                <c:pt idx="1">
                  <c:v>Healthcare</c:v>
                </c:pt>
                <c:pt idx="2">
                  <c:v>Insurance</c:v>
                </c:pt>
                <c:pt idx="3">
                  <c:v>Horizontal Expansion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80-454E-A6C4-FFA133532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95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8E9301-C40E-40F7-8172-DC2287C3A3F3}" type="doc">
      <dgm:prSet loTypeId="urn:microsoft.com/office/officeart/2005/8/layout/hProcess7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3EC2B12E-3104-4F9C-9D95-7EA8D7A87D23}">
      <dgm:prSet phldrT="[Text]" phldr="0"/>
      <dgm:spPr>
        <a:solidFill>
          <a:srgbClr val="FFC000"/>
        </a:solidFill>
      </dgm:spPr>
      <dgm:t>
        <a:bodyPr/>
        <a:lstStyle/>
        <a:p>
          <a:r>
            <a:rPr lang="en-IN"/>
            <a:t> </a:t>
          </a:r>
        </a:p>
      </dgm:t>
    </dgm:pt>
    <dgm:pt modelId="{7ABB6FB6-46FB-4CD1-AEE6-672EBF9CD038}" type="parTrans" cxnId="{300A97F4-A3B2-4223-A6B7-FCAEB96D7EFD}">
      <dgm:prSet/>
      <dgm:spPr/>
      <dgm:t>
        <a:bodyPr/>
        <a:lstStyle/>
        <a:p>
          <a:endParaRPr lang="en-IN"/>
        </a:p>
      </dgm:t>
    </dgm:pt>
    <dgm:pt modelId="{927ABA8F-BD45-4675-ADA9-927F4ACF9A25}" type="sibTrans" cxnId="{300A97F4-A3B2-4223-A6B7-FCAEB96D7EFD}">
      <dgm:prSet/>
      <dgm:spPr/>
      <dgm:t>
        <a:bodyPr/>
        <a:lstStyle/>
        <a:p>
          <a:endParaRPr lang="en-IN"/>
        </a:p>
      </dgm:t>
    </dgm:pt>
    <dgm:pt modelId="{F7936E90-64BD-4957-A5A2-E85C5F83DC1D}">
      <dgm:prSet phldrT="[Text]" phldr="0"/>
      <dgm:spPr/>
      <dgm:t>
        <a:bodyPr/>
        <a:lstStyle/>
        <a:p>
          <a:endParaRPr lang="en-IN" b="1"/>
        </a:p>
        <a:p>
          <a:r>
            <a:rPr lang="en-IN" b="1"/>
            <a:t>High Operational Cost</a:t>
          </a:r>
        </a:p>
      </dgm:t>
    </dgm:pt>
    <dgm:pt modelId="{9B9DCC2F-CD55-4132-B034-7C80D9A41256}" type="parTrans" cxnId="{7AAB99CF-02A9-4CA7-8085-BEDBCF54FF06}">
      <dgm:prSet/>
      <dgm:spPr/>
      <dgm:t>
        <a:bodyPr/>
        <a:lstStyle/>
        <a:p>
          <a:endParaRPr lang="en-IN"/>
        </a:p>
      </dgm:t>
    </dgm:pt>
    <dgm:pt modelId="{CD1A1856-680E-41AD-96C6-B333F923F58A}" type="sibTrans" cxnId="{7AAB99CF-02A9-4CA7-8085-BEDBCF54FF06}">
      <dgm:prSet/>
      <dgm:spPr/>
      <dgm:t>
        <a:bodyPr/>
        <a:lstStyle/>
        <a:p>
          <a:endParaRPr lang="en-IN"/>
        </a:p>
      </dgm:t>
    </dgm:pt>
    <dgm:pt modelId="{68611351-FDD9-4EE4-A2B5-2EFB144B1526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/>
            <a:t> </a:t>
          </a:r>
        </a:p>
      </dgm:t>
    </dgm:pt>
    <dgm:pt modelId="{86E66D21-A840-4063-8565-FC670D67DA79}" type="parTrans" cxnId="{3CD32057-33FE-4A0A-BCB2-ADB707330F17}">
      <dgm:prSet/>
      <dgm:spPr/>
      <dgm:t>
        <a:bodyPr/>
        <a:lstStyle/>
        <a:p>
          <a:endParaRPr lang="en-IN"/>
        </a:p>
      </dgm:t>
    </dgm:pt>
    <dgm:pt modelId="{C4371D05-5D9F-4A76-9F4F-8D7761260CD5}" type="sibTrans" cxnId="{3CD32057-33FE-4A0A-BCB2-ADB707330F17}">
      <dgm:prSet/>
      <dgm:spPr/>
      <dgm:t>
        <a:bodyPr/>
        <a:lstStyle/>
        <a:p>
          <a:endParaRPr lang="en-IN"/>
        </a:p>
      </dgm:t>
    </dgm:pt>
    <dgm:pt modelId="{6332C217-0413-4D7B-94E3-11D82F777FAF}">
      <dgm:prSet phldrT="[Text]" phldr="0"/>
      <dgm:spPr/>
      <dgm:t>
        <a:bodyPr/>
        <a:lstStyle/>
        <a:p>
          <a:endParaRPr lang="en-IN" b="1"/>
        </a:p>
        <a:p>
          <a:r>
            <a:rPr lang="en-IN" b="1"/>
            <a:t>Knowledge Bottlenecks</a:t>
          </a:r>
        </a:p>
      </dgm:t>
    </dgm:pt>
    <dgm:pt modelId="{989A8D86-C086-4C3A-9AE5-1EC0756EF942}" type="parTrans" cxnId="{AE751DBE-FC73-44CA-9350-4D9DE33D0E04}">
      <dgm:prSet/>
      <dgm:spPr/>
      <dgm:t>
        <a:bodyPr/>
        <a:lstStyle/>
        <a:p>
          <a:endParaRPr lang="en-IN"/>
        </a:p>
      </dgm:t>
    </dgm:pt>
    <dgm:pt modelId="{9C077764-4109-48AB-9E4B-EAFE861C4124}" type="sibTrans" cxnId="{AE751DBE-FC73-44CA-9350-4D9DE33D0E04}">
      <dgm:prSet/>
      <dgm:spPr/>
      <dgm:t>
        <a:bodyPr/>
        <a:lstStyle/>
        <a:p>
          <a:endParaRPr lang="en-IN"/>
        </a:p>
      </dgm:t>
    </dgm:pt>
    <dgm:pt modelId="{2232C64A-C26C-4AE7-8987-2CBAE257E966}">
      <dgm:prSet phldrT="[Text]" phldr="0"/>
      <dgm:spPr>
        <a:solidFill>
          <a:srgbClr val="002060"/>
        </a:solidFill>
        <a:effectLst>
          <a:outerShdw blurRad="50800" dist="38100" dir="18900000" algn="bl" rotWithShape="0">
            <a:srgbClr val="00B0F0">
              <a:alpha val="40000"/>
            </a:srgbClr>
          </a:outerShdw>
        </a:effectLst>
      </dgm:spPr>
      <dgm:t>
        <a:bodyPr/>
        <a:lstStyle/>
        <a:p>
          <a:r>
            <a:rPr lang="en-IN"/>
            <a:t> </a:t>
          </a:r>
        </a:p>
      </dgm:t>
    </dgm:pt>
    <dgm:pt modelId="{BD5D26F0-D190-4F1C-B438-9A444DB5DBC8}" type="sibTrans" cxnId="{42B21C38-3722-4D4E-B170-DA09500B99E6}">
      <dgm:prSet/>
      <dgm:spPr/>
      <dgm:t>
        <a:bodyPr/>
        <a:lstStyle/>
        <a:p>
          <a:endParaRPr lang="en-IN"/>
        </a:p>
      </dgm:t>
    </dgm:pt>
    <dgm:pt modelId="{195B6F8E-F1B6-4ECD-A0D3-162B8112CED9}" type="parTrans" cxnId="{42B21C38-3722-4D4E-B170-DA09500B99E6}">
      <dgm:prSet/>
      <dgm:spPr/>
      <dgm:t>
        <a:bodyPr/>
        <a:lstStyle/>
        <a:p>
          <a:endParaRPr lang="en-IN"/>
        </a:p>
      </dgm:t>
    </dgm:pt>
    <dgm:pt modelId="{B5288571-CFB2-4999-B2FB-DC8298F0DDBF}">
      <dgm:prSet phldrT="[Text]" phldr="0"/>
      <dgm:spPr>
        <a:effectLst>
          <a:innerShdw blurRad="114300">
            <a:srgbClr val="FFFF00"/>
          </a:innerShdw>
        </a:effectLst>
      </dgm:spPr>
      <dgm:t>
        <a:bodyPr/>
        <a:lstStyle/>
        <a:p>
          <a:br>
            <a:rPr lang="en-IN" b="1"/>
          </a:br>
          <a:r>
            <a:rPr lang="en-IN" b="1"/>
            <a:t>Slow </a:t>
          </a:r>
          <a:br>
            <a:rPr lang="en-IN" b="1"/>
          </a:br>
          <a:r>
            <a:rPr lang="en-IN" b="1"/>
            <a:t>Decision </a:t>
          </a:r>
        </a:p>
      </dgm:t>
    </dgm:pt>
    <dgm:pt modelId="{0432ACAA-7D43-4303-A27C-8C640CBCAC24}" type="sibTrans" cxnId="{5930A80E-A978-4C0C-8538-1A19BBD98EE6}">
      <dgm:prSet/>
      <dgm:spPr/>
      <dgm:t>
        <a:bodyPr/>
        <a:lstStyle/>
        <a:p>
          <a:endParaRPr lang="en-IN"/>
        </a:p>
      </dgm:t>
    </dgm:pt>
    <dgm:pt modelId="{68271F46-9AB0-411F-9B5A-8BF523E5A6D3}" type="parTrans" cxnId="{5930A80E-A978-4C0C-8538-1A19BBD98EE6}">
      <dgm:prSet/>
      <dgm:spPr/>
      <dgm:t>
        <a:bodyPr/>
        <a:lstStyle/>
        <a:p>
          <a:endParaRPr lang="en-IN"/>
        </a:p>
      </dgm:t>
    </dgm:pt>
    <dgm:pt modelId="{B4E87954-9C49-4235-82C3-9543723FC287}">
      <dgm:prSet phldrT="[Text]" phldr="0"/>
      <dgm:spPr>
        <a:solidFill>
          <a:srgbClr val="002060"/>
        </a:solidFill>
      </dgm:spPr>
      <dgm:t>
        <a:bodyPr/>
        <a:lstStyle/>
        <a:p>
          <a:pPr algn="r"/>
          <a:endParaRPr lang="en-IN"/>
        </a:p>
      </dgm:t>
    </dgm:pt>
    <dgm:pt modelId="{7F37AB58-AE15-40E7-A975-ECEA9B0DA67C}" type="parTrans" cxnId="{DF59EE05-AF26-4887-BFE5-737CB8E8F98A}">
      <dgm:prSet/>
      <dgm:spPr/>
      <dgm:t>
        <a:bodyPr/>
        <a:lstStyle/>
        <a:p>
          <a:endParaRPr lang="en-IN"/>
        </a:p>
      </dgm:t>
    </dgm:pt>
    <dgm:pt modelId="{04EB53EA-DEDF-475C-9B69-FA2CFEA032D4}" type="sibTrans" cxnId="{DF59EE05-AF26-4887-BFE5-737CB8E8F98A}">
      <dgm:prSet/>
      <dgm:spPr/>
      <dgm:t>
        <a:bodyPr/>
        <a:lstStyle/>
        <a:p>
          <a:endParaRPr lang="en-IN"/>
        </a:p>
      </dgm:t>
    </dgm:pt>
    <dgm:pt modelId="{7D6F77AE-814C-4E23-8079-03C82E343932}">
      <dgm:prSet phldrT="[Text]" phldr="0"/>
      <dgm:spPr>
        <a:solidFill>
          <a:srgbClr val="FFC000"/>
        </a:solidFill>
      </dgm:spPr>
      <dgm:t>
        <a:bodyPr/>
        <a:lstStyle/>
        <a:p>
          <a:endParaRPr lang="en-IN"/>
        </a:p>
        <a:p>
          <a:endParaRPr lang="en-IN"/>
        </a:p>
      </dgm:t>
    </dgm:pt>
    <dgm:pt modelId="{42A57979-9ECC-4317-83CF-1EEB7300F611}" type="parTrans" cxnId="{A4A5AF39-2CF6-4E14-BF02-1DA1C33A0740}">
      <dgm:prSet/>
      <dgm:spPr/>
      <dgm:t>
        <a:bodyPr/>
        <a:lstStyle/>
        <a:p>
          <a:endParaRPr lang="en-IN"/>
        </a:p>
      </dgm:t>
    </dgm:pt>
    <dgm:pt modelId="{3781B0E0-ED19-4481-92C7-7DECA940A5F9}" type="sibTrans" cxnId="{A4A5AF39-2CF6-4E14-BF02-1DA1C33A0740}">
      <dgm:prSet/>
      <dgm:spPr/>
      <dgm:t>
        <a:bodyPr/>
        <a:lstStyle/>
        <a:p>
          <a:endParaRPr lang="en-IN"/>
        </a:p>
      </dgm:t>
    </dgm:pt>
    <dgm:pt modelId="{0E55D1E4-202B-4CAE-9DA8-39F253C377A3}" type="pres">
      <dgm:prSet presAssocID="{0C8E9301-C40E-40F7-8172-DC2287C3A3F3}" presName="Name0" presStyleCnt="0">
        <dgm:presLayoutVars>
          <dgm:dir/>
          <dgm:animLvl val="lvl"/>
          <dgm:resizeHandles val="exact"/>
        </dgm:presLayoutVars>
      </dgm:prSet>
      <dgm:spPr/>
    </dgm:pt>
    <dgm:pt modelId="{B31E508A-2805-415E-A509-E70539DC71AD}" type="pres">
      <dgm:prSet presAssocID="{2232C64A-C26C-4AE7-8987-2CBAE257E966}" presName="compositeNode" presStyleCnt="0">
        <dgm:presLayoutVars>
          <dgm:bulletEnabled val="1"/>
        </dgm:presLayoutVars>
      </dgm:prSet>
      <dgm:spPr/>
    </dgm:pt>
    <dgm:pt modelId="{7B1C3EDF-7974-43FC-908C-8EAC777BE69C}" type="pres">
      <dgm:prSet presAssocID="{2232C64A-C26C-4AE7-8987-2CBAE257E966}" presName="bgRect" presStyleLbl="node1" presStyleIdx="0" presStyleCnt="5"/>
      <dgm:spPr/>
    </dgm:pt>
    <dgm:pt modelId="{BAE29B9C-6F1E-4D13-BD3A-7BD9D6F3DEAD}" type="pres">
      <dgm:prSet presAssocID="{2232C64A-C26C-4AE7-8987-2CBAE257E966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881EED22-1C64-4334-ADFD-0311D622F0DC}" type="pres">
      <dgm:prSet presAssocID="{2232C64A-C26C-4AE7-8987-2CBAE257E966}" presName="childNode" presStyleLbl="node1" presStyleIdx="0" presStyleCnt="5">
        <dgm:presLayoutVars>
          <dgm:bulletEnabled val="1"/>
        </dgm:presLayoutVars>
      </dgm:prSet>
      <dgm:spPr/>
    </dgm:pt>
    <dgm:pt modelId="{A57163E0-F7CE-41D5-AF41-C55BD201761B}" type="pres">
      <dgm:prSet presAssocID="{BD5D26F0-D190-4F1C-B438-9A444DB5DBC8}" presName="hSp" presStyleCnt="0"/>
      <dgm:spPr/>
    </dgm:pt>
    <dgm:pt modelId="{84E87354-A313-4579-8BB1-2D433C01673F}" type="pres">
      <dgm:prSet presAssocID="{BD5D26F0-D190-4F1C-B438-9A444DB5DBC8}" presName="vProcSp" presStyleCnt="0"/>
      <dgm:spPr/>
    </dgm:pt>
    <dgm:pt modelId="{2D9EA677-2B9E-4674-B28B-2EC6A1B8792D}" type="pres">
      <dgm:prSet presAssocID="{BD5D26F0-D190-4F1C-B438-9A444DB5DBC8}" presName="vSp1" presStyleCnt="0"/>
      <dgm:spPr/>
    </dgm:pt>
    <dgm:pt modelId="{910CF58A-9B34-4203-BFB0-89794AC1FD46}" type="pres">
      <dgm:prSet presAssocID="{BD5D26F0-D190-4F1C-B438-9A444DB5DBC8}" presName="simulatedConn" presStyleLbl="solidFgAcc1" presStyleIdx="0" presStyleCnt="4"/>
      <dgm:spPr/>
    </dgm:pt>
    <dgm:pt modelId="{A823F7F6-FA7E-4866-969B-A648314DCF41}" type="pres">
      <dgm:prSet presAssocID="{BD5D26F0-D190-4F1C-B438-9A444DB5DBC8}" presName="vSp2" presStyleCnt="0"/>
      <dgm:spPr/>
    </dgm:pt>
    <dgm:pt modelId="{B009D37E-A99B-405B-8F93-F8A390D98ADA}" type="pres">
      <dgm:prSet presAssocID="{BD5D26F0-D190-4F1C-B438-9A444DB5DBC8}" presName="sibTrans" presStyleCnt="0"/>
      <dgm:spPr/>
    </dgm:pt>
    <dgm:pt modelId="{CCD83039-4539-4AF6-8E40-995CF90992E8}" type="pres">
      <dgm:prSet presAssocID="{3EC2B12E-3104-4F9C-9D95-7EA8D7A87D23}" presName="compositeNode" presStyleCnt="0">
        <dgm:presLayoutVars>
          <dgm:bulletEnabled val="1"/>
        </dgm:presLayoutVars>
      </dgm:prSet>
      <dgm:spPr/>
    </dgm:pt>
    <dgm:pt modelId="{A692F77F-9B54-4657-AC60-E269E917E9EE}" type="pres">
      <dgm:prSet presAssocID="{3EC2B12E-3104-4F9C-9D95-7EA8D7A87D23}" presName="bgRect" presStyleLbl="node1" presStyleIdx="1" presStyleCnt="5"/>
      <dgm:spPr/>
    </dgm:pt>
    <dgm:pt modelId="{036CEBDF-F030-487D-A365-9291EAAFA697}" type="pres">
      <dgm:prSet presAssocID="{3EC2B12E-3104-4F9C-9D95-7EA8D7A87D23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0D409F59-32D2-4F4A-9C98-7F97E6974189}" type="pres">
      <dgm:prSet presAssocID="{3EC2B12E-3104-4F9C-9D95-7EA8D7A87D23}" presName="childNode" presStyleLbl="node1" presStyleIdx="1" presStyleCnt="5">
        <dgm:presLayoutVars>
          <dgm:bulletEnabled val="1"/>
        </dgm:presLayoutVars>
      </dgm:prSet>
      <dgm:spPr/>
    </dgm:pt>
    <dgm:pt modelId="{C19565E9-7ACA-4C09-8B25-68C8EE182970}" type="pres">
      <dgm:prSet presAssocID="{927ABA8F-BD45-4675-ADA9-927F4ACF9A25}" presName="hSp" presStyleCnt="0"/>
      <dgm:spPr/>
    </dgm:pt>
    <dgm:pt modelId="{6671C6F7-309C-4DC4-ACF6-D6F42AA39C30}" type="pres">
      <dgm:prSet presAssocID="{927ABA8F-BD45-4675-ADA9-927F4ACF9A25}" presName="vProcSp" presStyleCnt="0"/>
      <dgm:spPr/>
    </dgm:pt>
    <dgm:pt modelId="{28B1A96A-5492-4F55-B838-51E6D6EC3755}" type="pres">
      <dgm:prSet presAssocID="{927ABA8F-BD45-4675-ADA9-927F4ACF9A25}" presName="vSp1" presStyleCnt="0"/>
      <dgm:spPr/>
    </dgm:pt>
    <dgm:pt modelId="{5F59935E-C64E-4105-8852-F8C9F64BF1CC}" type="pres">
      <dgm:prSet presAssocID="{927ABA8F-BD45-4675-ADA9-927F4ACF9A25}" presName="simulatedConn" presStyleLbl="solidFgAcc1" presStyleIdx="1" presStyleCnt="4"/>
      <dgm:spPr/>
    </dgm:pt>
    <dgm:pt modelId="{2A636645-6315-4639-B23F-A9A2D3CC1102}" type="pres">
      <dgm:prSet presAssocID="{927ABA8F-BD45-4675-ADA9-927F4ACF9A25}" presName="vSp2" presStyleCnt="0"/>
      <dgm:spPr/>
    </dgm:pt>
    <dgm:pt modelId="{CA90A246-1A2D-445E-AB01-AE1660013897}" type="pres">
      <dgm:prSet presAssocID="{927ABA8F-BD45-4675-ADA9-927F4ACF9A25}" presName="sibTrans" presStyleCnt="0"/>
      <dgm:spPr/>
    </dgm:pt>
    <dgm:pt modelId="{F15F2282-AB4A-4440-9223-D9F72122CB13}" type="pres">
      <dgm:prSet presAssocID="{68611351-FDD9-4EE4-A2B5-2EFB144B1526}" presName="compositeNode" presStyleCnt="0">
        <dgm:presLayoutVars>
          <dgm:bulletEnabled val="1"/>
        </dgm:presLayoutVars>
      </dgm:prSet>
      <dgm:spPr/>
    </dgm:pt>
    <dgm:pt modelId="{A19A8F5E-119A-45B0-8019-BEFDDF52E88F}" type="pres">
      <dgm:prSet presAssocID="{68611351-FDD9-4EE4-A2B5-2EFB144B1526}" presName="bgRect" presStyleLbl="node1" presStyleIdx="2" presStyleCnt="5" custLinFactNeighborX="0" custLinFactNeighborY="1361"/>
      <dgm:spPr/>
    </dgm:pt>
    <dgm:pt modelId="{340366C6-F583-4992-B7CE-96D84BF42159}" type="pres">
      <dgm:prSet presAssocID="{68611351-FDD9-4EE4-A2B5-2EFB144B1526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231F7C4F-0CEA-4400-9403-523031D2C2CC}" type="pres">
      <dgm:prSet presAssocID="{68611351-FDD9-4EE4-A2B5-2EFB144B1526}" presName="childNode" presStyleLbl="node1" presStyleIdx="2" presStyleCnt="5">
        <dgm:presLayoutVars>
          <dgm:bulletEnabled val="1"/>
        </dgm:presLayoutVars>
      </dgm:prSet>
      <dgm:spPr/>
    </dgm:pt>
    <dgm:pt modelId="{AA5D4002-68B6-484F-BD5D-CDD25C928A8B}" type="pres">
      <dgm:prSet presAssocID="{C4371D05-5D9F-4A76-9F4F-8D7761260CD5}" presName="hSp" presStyleCnt="0"/>
      <dgm:spPr/>
    </dgm:pt>
    <dgm:pt modelId="{0445F77F-810F-4C06-8929-75EAE7AC9000}" type="pres">
      <dgm:prSet presAssocID="{C4371D05-5D9F-4A76-9F4F-8D7761260CD5}" presName="vProcSp" presStyleCnt="0"/>
      <dgm:spPr/>
    </dgm:pt>
    <dgm:pt modelId="{81C04C45-8EF4-4223-A1FC-F38A9AF899FE}" type="pres">
      <dgm:prSet presAssocID="{C4371D05-5D9F-4A76-9F4F-8D7761260CD5}" presName="vSp1" presStyleCnt="0"/>
      <dgm:spPr/>
    </dgm:pt>
    <dgm:pt modelId="{C104FF1E-34C6-436B-858D-04DF74F31945}" type="pres">
      <dgm:prSet presAssocID="{C4371D05-5D9F-4A76-9F4F-8D7761260CD5}" presName="simulatedConn" presStyleLbl="solidFgAcc1" presStyleIdx="2" presStyleCnt="4"/>
      <dgm:spPr/>
    </dgm:pt>
    <dgm:pt modelId="{A4CD029A-F68B-4764-93B8-E65A4B446630}" type="pres">
      <dgm:prSet presAssocID="{C4371D05-5D9F-4A76-9F4F-8D7761260CD5}" presName="vSp2" presStyleCnt="0"/>
      <dgm:spPr/>
    </dgm:pt>
    <dgm:pt modelId="{5B5E9D5B-3FF4-49AC-BEA3-856EB743A800}" type="pres">
      <dgm:prSet presAssocID="{C4371D05-5D9F-4A76-9F4F-8D7761260CD5}" presName="sibTrans" presStyleCnt="0"/>
      <dgm:spPr/>
    </dgm:pt>
    <dgm:pt modelId="{6B357510-6ADF-47B4-8B75-DACEA256E4B9}" type="pres">
      <dgm:prSet presAssocID="{7D6F77AE-814C-4E23-8079-03C82E343932}" presName="compositeNode" presStyleCnt="0">
        <dgm:presLayoutVars>
          <dgm:bulletEnabled val="1"/>
        </dgm:presLayoutVars>
      </dgm:prSet>
      <dgm:spPr/>
    </dgm:pt>
    <dgm:pt modelId="{6FE160D3-B81D-46B0-BC74-88B4334AA1C0}" type="pres">
      <dgm:prSet presAssocID="{7D6F77AE-814C-4E23-8079-03C82E343932}" presName="bgRect" presStyleLbl="node1" presStyleIdx="3" presStyleCnt="5"/>
      <dgm:spPr/>
    </dgm:pt>
    <dgm:pt modelId="{709FB949-A4B3-46FD-9DA7-4AB0C62846E1}" type="pres">
      <dgm:prSet presAssocID="{7D6F77AE-814C-4E23-8079-03C82E343932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6BB910A8-DEB6-448C-AE3B-E94F4096F590}" type="pres">
      <dgm:prSet presAssocID="{3781B0E0-ED19-4481-92C7-7DECA940A5F9}" presName="hSp" presStyleCnt="0"/>
      <dgm:spPr/>
    </dgm:pt>
    <dgm:pt modelId="{230953CA-31D4-4F23-81EB-B5433CBF5205}" type="pres">
      <dgm:prSet presAssocID="{3781B0E0-ED19-4481-92C7-7DECA940A5F9}" presName="vProcSp" presStyleCnt="0"/>
      <dgm:spPr/>
    </dgm:pt>
    <dgm:pt modelId="{2F414273-CD85-4744-A6E8-DDB0898D1440}" type="pres">
      <dgm:prSet presAssocID="{3781B0E0-ED19-4481-92C7-7DECA940A5F9}" presName="vSp1" presStyleCnt="0"/>
      <dgm:spPr/>
    </dgm:pt>
    <dgm:pt modelId="{C9CFCA2D-899E-4569-BC93-374FC857A606}" type="pres">
      <dgm:prSet presAssocID="{3781B0E0-ED19-4481-92C7-7DECA940A5F9}" presName="simulatedConn" presStyleLbl="solidFgAcc1" presStyleIdx="3" presStyleCnt="4"/>
      <dgm:spPr/>
    </dgm:pt>
    <dgm:pt modelId="{96A24E9E-6A6C-47D3-AF2A-3D5FBAF4F847}" type="pres">
      <dgm:prSet presAssocID="{3781B0E0-ED19-4481-92C7-7DECA940A5F9}" presName="vSp2" presStyleCnt="0"/>
      <dgm:spPr/>
    </dgm:pt>
    <dgm:pt modelId="{2E127FC9-774D-4EFD-ADF3-1041986A623D}" type="pres">
      <dgm:prSet presAssocID="{3781B0E0-ED19-4481-92C7-7DECA940A5F9}" presName="sibTrans" presStyleCnt="0"/>
      <dgm:spPr/>
    </dgm:pt>
    <dgm:pt modelId="{4B043925-6732-4F52-87A0-658EE3FBD888}" type="pres">
      <dgm:prSet presAssocID="{B4E87954-9C49-4235-82C3-9543723FC287}" presName="compositeNode" presStyleCnt="0">
        <dgm:presLayoutVars>
          <dgm:bulletEnabled val="1"/>
        </dgm:presLayoutVars>
      </dgm:prSet>
      <dgm:spPr/>
    </dgm:pt>
    <dgm:pt modelId="{D36BE708-CD9C-4A36-9F2A-F34B621A2982}" type="pres">
      <dgm:prSet presAssocID="{B4E87954-9C49-4235-82C3-9543723FC287}" presName="bgRect" presStyleLbl="node1" presStyleIdx="4" presStyleCnt="5"/>
      <dgm:spPr/>
    </dgm:pt>
    <dgm:pt modelId="{F3B92ACF-ACBD-4216-9A04-1788BA48AEC4}" type="pres">
      <dgm:prSet presAssocID="{B4E87954-9C49-4235-82C3-9543723FC287}" presName="parentNode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59EE05-AF26-4887-BFE5-737CB8E8F98A}" srcId="{0C8E9301-C40E-40F7-8172-DC2287C3A3F3}" destId="{B4E87954-9C49-4235-82C3-9543723FC287}" srcOrd="4" destOrd="0" parTransId="{7F37AB58-AE15-40E7-A975-ECEA9B0DA67C}" sibTransId="{04EB53EA-DEDF-475C-9B69-FA2CFEA032D4}"/>
    <dgm:cxn modelId="{5930A80E-A978-4C0C-8538-1A19BBD98EE6}" srcId="{2232C64A-C26C-4AE7-8987-2CBAE257E966}" destId="{B5288571-CFB2-4999-B2FB-DC8298F0DDBF}" srcOrd="0" destOrd="0" parTransId="{68271F46-9AB0-411F-9B5A-8BF523E5A6D3}" sibTransId="{0432ACAA-7D43-4303-A27C-8C640CBCAC24}"/>
    <dgm:cxn modelId="{CCE1FA2F-7A3B-4BC8-9FFF-EF49C0F52A80}" type="presOf" srcId="{2232C64A-C26C-4AE7-8987-2CBAE257E966}" destId="{7B1C3EDF-7974-43FC-908C-8EAC777BE69C}" srcOrd="0" destOrd="0" presId="urn:microsoft.com/office/officeart/2005/8/layout/hProcess7"/>
    <dgm:cxn modelId="{B5035935-0A18-4DAF-A4AC-8B4D136048C2}" type="presOf" srcId="{6332C217-0413-4D7B-94E3-11D82F777FAF}" destId="{231F7C4F-0CEA-4400-9403-523031D2C2CC}" srcOrd="0" destOrd="0" presId="urn:microsoft.com/office/officeart/2005/8/layout/hProcess7"/>
    <dgm:cxn modelId="{42B21C38-3722-4D4E-B170-DA09500B99E6}" srcId="{0C8E9301-C40E-40F7-8172-DC2287C3A3F3}" destId="{2232C64A-C26C-4AE7-8987-2CBAE257E966}" srcOrd="0" destOrd="0" parTransId="{195B6F8E-F1B6-4ECD-A0D3-162B8112CED9}" sibTransId="{BD5D26F0-D190-4F1C-B438-9A444DB5DBC8}"/>
    <dgm:cxn modelId="{A4A5AF39-2CF6-4E14-BF02-1DA1C33A0740}" srcId="{0C8E9301-C40E-40F7-8172-DC2287C3A3F3}" destId="{7D6F77AE-814C-4E23-8079-03C82E343932}" srcOrd="3" destOrd="0" parTransId="{42A57979-9ECC-4317-83CF-1EEB7300F611}" sibTransId="{3781B0E0-ED19-4481-92C7-7DECA940A5F9}"/>
    <dgm:cxn modelId="{E654735B-F739-4838-B159-CBD8FA5E9CD3}" type="presOf" srcId="{3EC2B12E-3104-4F9C-9D95-7EA8D7A87D23}" destId="{036CEBDF-F030-487D-A365-9291EAAFA697}" srcOrd="1" destOrd="0" presId="urn:microsoft.com/office/officeart/2005/8/layout/hProcess7"/>
    <dgm:cxn modelId="{E5E2DC76-E477-4093-8245-05AC5B5A268F}" type="presOf" srcId="{7D6F77AE-814C-4E23-8079-03C82E343932}" destId="{6FE160D3-B81D-46B0-BC74-88B4334AA1C0}" srcOrd="0" destOrd="0" presId="urn:microsoft.com/office/officeart/2005/8/layout/hProcess7"/>
    <dgm:cxn modelId="{3CD32057-33FE-4A0A-BCB2-ADB707330F17}" srcId="{0C8E9301-C40E-40F7-8172-DC2287C3A3F3}" destId="{68611351-FDD9-4EE4-A2B5-2EFB144B1526}" srcOrd="2" destOrd="0" parTransId="{86E66D21-A840-4063-8565-FC670D67DA79}" sibTransId="{C4371D05-5D9F-4A76-9F4F-8D7761260CD5}"/>
    <dgm:cxn modelId="{0288EF8C-58A8-45E6-9AAF-3A63F26120C6}" type="presOf" srcId="{68611351-FDD9-4EE4-A2B5-2EFB144B1526}" destId="{340366C6-F583-4992-B7CE-96D84BF42159}" srcOrd="1" destOrd="0" presId="urn:microsoft.com/office/officeart/2005/8/layout/hProcess7"/>
    <dgm:cxn modelId="{CDE45B91-147F-4B87-A3BE-3C56ED2C348C}" type="presOf" srcId="{B4E87954-9C49-4235-82C3-9543723FC287}" destId="{D36BE708-CD9C-4A36-9F2A-F34B621A2982}" srcOrd="0" destOrd="0" presId="urn:microsoft.com/office/officeart/2005/8/layout/hProcess7"/>
    <dgm:cxn modelId="{8AF15597-6D1F-40C4-97AD-036C9B0ADFF6}" type="presOf" srcId="{2232C64A-C26C-4AE7-8987-2CBAE257E966}" destId="{BAE29B9C-6F1E-4D13-BD3A-7BD9D6F3DEAD}" srcOrd="1" destOrd="0" presId="urn:microsoft.com/office/officeart/2005/8/layout/hProcess7"/>
    <dgm:cxn modelId="{1B34639A-6C46-4B82-8D79-E87182268697}" type="presOf" srcId="{3EC2B12E-3104-4F9C-9D95-7EA8D7A87D23}" destId="{A692F77F-9B54-4657-AC60-E269E917E9EE}" srcOrd="0" destOrd="0" presId="urn:microsoft.com/office/officeart/2005/8/layout/hProcess7"/>
    <dgm:cxn modelId="{DF4AF2B5-74B8-4079-ABA2-D414C6E53200}" type="presOf" srcId="{68611351-FDD9-4EE4-A2B5-2EFB144B1526}" destId="{A19A8F5E-119A-45B0-8019-BEFDDF52E88F}" srcOrd="0" destOrd="0" presId="urn:microsoft.com/office/officeart/2005/8/layout/hProcess7"/>
    <dgm:cxn modelId="{AE751DBE-FC73-44CA-9350-4D9DE33D0E04}" srcId="{68611351-FDD9-4EE4-A2B5-2EFB144B1526}" destId="{6332C217-0413-4D7B-94E3-11D82F777FAF}" srcOrd="0" destOrd="0" parTransId="{989A8D86-C086-4C3A-9AE5-1EC0756EF942}" sibTransId="{9C077764-4109-48AB-9E4B-EAFE861C4124}"/>
    <dgm:cxn modelId="{990D3BBF-870C-4584-8301-BA56E97AA76F}" type="presOf" srcId="{0C8E9301-C40E-40F7-8172-DC2287C3A3F3}" destId="{0E55D1E4-202B-4CAE-9DA8-39F253C377A3}" srcOrd="0" destOrd="0" presId="urn:microsoft.com/office/officeart/2005/8/layout/hProcess7"/>
    <dgm:cxn modelId="{D6753AC6-52F3-47F2-B8D9-ADEEF7DA3C7D}" type="presOf" srcId="{B4E87954-9C49-4235-82C3-9543723FC287}" destId="{F3B92ACF-ACBD-4216-9A04-1788BA48AEC4}" srcOrd="1" destOrd="0" presId="urn:microsoft.com/office/officeart/2005/8/layout/hProcess7"/>
    <dgm:cxn modelId="{7AAB99CF-02A9-4CA7-8085-BEDBCF54FF06}" srcId="{3EC2B12E-3104-4F9C-9D95-7EA8D7A87D23}" destId="{F7936E90-64BD-4957-A5A2-E85C5F83DC1D}" srcOrd="0" destOrd="0" parTransId="{9B9DCC2F-CD55-4132-B034-7C80D9A41256}" sibTransId="{CD1A1856-680E-41AD-96C6-B333F923F58A}"/>
    <dgm:cxn modelId="{2C9CE2F1-0F03-439A-AD91-70D0C004E52D}" type="presOf" srcId="{F7936E90-64BD-4957-A5A2-E85C5F83DC1D}" destId="{0D409F59-32D2-4F4A-9C98-7F97E6974189}" srcOrd="0" destOrd="0" presId="urn:microsoft.com/office/officeart/2005/8/layout/hProcess7"/>
    <dgm:cxn modelId="{300A97F4-A3B2-4223-A6B7-FCAEB96D7EFD}" srcId="{0C8E9301-C40E-40F7-8172-DC2287C3A3F3}" destId="{3EC2B12E-3104-4F9C-9D95-7EA8D7A87D23}" srcOrd="1" destOrd="0" parTransId="{7ABB6FB6-46FB-4CD1-AEE6-672EBF9CD038}" sibTransId="{927ABA8F-BD45-4675-ADA9-927F4ACF9A25}"/>
    <dgm:cxn modelId="{C6E0C1F6-ED3D-4241-9A47-E1B46E9491F3}" type="presOf" srcId="{7D6F77AE-814C-4E23-8079-03C82E343932}" destId="{709FB949-A4B3-46FD-9DA7-4AB0C62846E1}" srcOrd="1" destOrd="0" presId="urn:microsoft.com/office/officeart/2005/8/layout/hProcess7"/>
    <dgm:cxn modelId="{60CD3EFD-FED4-4FDC-AF6B-D1AF522857CF}" type="presOf" srcId="{B5288571-CFB2-4999-B2FB-DC8298F0DDBF}" destId="{881EED22-1C64-4334-ADFD-0311D622F0DC}" srcOrd="0" destOrd="0" presId="urn:microsoft.com/office/officeart/2005/8/layout/hProcess7"/>
    <dgm:cxn modelId="{6696B842-7111-4279-86D9-B16D09C5F987}" type="presParOf" srcId="{0E55D1E4-202B-4CAE-9DA8-39F253C377A3}" destId="{B31E508A-2805-415E-A509-E70539DC71AD}" srcOrd="0" destOrd="0" presId="urn:microsoft.com/office/officeart/2005/8/layout/hProcess7"/>
    <dgm:cxn modelId="{94DBBDDA-6C7B-4AAC-B208-A10AA370C4E8}" type="presParOf" srcId="{B31E508A-2805-415E-A509-E70539DC71AD}" destId="{7B1C3EDF-7974-43FC-908C-8EAC777BE69C}" srcOrd="0" destOrd="0" presId="urn:microsoft.com/office/officeart/2005/8/layout/hProcess7"/>
    <dgm:cxn modelId="{7A38A613-F9B7-4581-ABD9-5E6E0E7400A5}" type="presParOf" srcId="{B31E508A-2805-415E-A509-E70539DC71AD}" destId="{BAE29B9C-6F1E-4D13-BD3A-7BD9D6F3DEAD}" srcOrd="1" destOrd="0" presId="urn:microsoft.com/office/officeart/2005/8/layout/hProcess7"/>
    <dgm:cxn modelId="{D9E392DD-E9B1-4488-A5F3-906FF1EA6B65}" type="presParOf" srcId="{B31E508A-2805-415E-A509-E70539DC71AD}" destId="{881EED22-1C64-4334-ADFD-0311D622F0DC}" srcOrd="2" destOrd="0" presId="urn:microsoft.com/office/officeart/2005/8/layout/hProcess7"/>
    <dgm:cxn modelId="{F4B8E364-5341-46C2-A57C-B40C983F96B8}" type="presParOf" srcId="{0E55D1E4-202B-4CAE-9DA8-39F253C377A3}" destId="{A57163E0-F7CE-41D5-AF41-C55BD201761B}" srcOrd="1" destOrd="0" presId="urn:microsoft.com/office/officeart/2005/8/layout/hProcess7"/>
    <dgm:cxn modelId="{F2619EA3-54DB-4690-8B7E-0383BD2E6A3C}" type="presParOf" srcId="{0E55D1E4-202B-4CAE-9DA8-39F253C377A3}" destId="{84E87354-A313-4579-8BB1-2D433C01673F}" srcOrd="2" destOrd="0" presId="urn:microsoft.com/office/officeart/2005/8/layout/hProcess7"/>
    <dgm:cxn modelId="{83CFA6BF-168E-4781-93F2-9B23781A27E9}" type="presParOf" srcId="{84E87354-A313-4579-8BB1-2D433C01673F}" destId="{2D9EA677-2B9E-4674-B28B-2EC6A1B8792D}" srcOrd="0" destOrd="0" presId="urn:microsoft.com/office/officeart/2005/8/layout/hProcess7"/>
    <dgm:cxn modelId="{C9A0D721-F60A-45AD-A5BF-5204EF3DB516}" type="presParOf" srcId="{84E87354-A313-4579-8BB1-2D433C01673F}" destId="{910CF58A-9B34-4203-BFB0-89794AC1FD46}" srcOrd="1" destOrd="0" presId="urn:microsoft.com/office/officeart/2005/8/layout/hProcess7"/>
    <dgm:cxn modelId="{C05294D6-CF47-46C6-85D8-13BE5150A556}" type="presParOf" srcId="{84E87354-A313-4579-8BB1-2D433C01673F}" destId="{A823F7F6-FA7E-4866-969B-A648314DCF41}" srcOrd="2" destOrd="0" presId="urn:microsoft.com/office/officeart/2005/8/layout/hProcess7"/>
    <dgm:cxn modelId="{97D4B8F8-2071-4F19-B448-01D27D6130D3}" type="presParOf" srcId="{0E55D1E4-202B-4CAE-9DA8-39F253C377A3}" destId="{B009D37E-A99B-405B-8F93-F8A390D98ADA}" srcOrd="3" destOrd="0" presId="urn:microsoft.com/office/officeart/2005/8/layout/hProcess7"/>
    <dgm:cxn modelId="{0CF6FD52-71CE-4AB0-9E6C-C5D0620C70C1}" type="presParOf" srcId="{0E55D1E4-202B-4CAE-9DA8-39F253C377A3}" destId="{CCD83039-4539-4AF6-8E40-995CF90992E8}" srcOrd="4" destOrd="0" presId="urn:microsoft.com/office/officeart/2005/8/layout/hProcess7"/>
    <dgm:cxn modelId="{AE08EAE0-9E80-4251-8A49-25C8C8073540}" type="presParOf" srcId="{CCD83039-4539-4AF6-8E40-995CF90992E8}" destId="{A692F77F-9B54-4657-AC60-E269E917E9EE}" srcOrd="0" destOrd="0" presId="urn:microsoft.com/office/officeart/2005/8/layout/hProcess7"/>
    <dgm:cxn modelId="{E05D9E94-B6F3-4D2C-9BAB-D76C175EA8AB}" type="presParOf" srcId="{CCD83039-4539-4AF6-8E40-995CF90992E8}" destId="{036CEBDF-F030-487D-A365-9291EAAFA697}" srcOrd="1" destOrd="0" presId="urn:microsoft.com/office/officeart/2005/8/layout/hProcess7"/>
    <dgm:cxn modelId="{584B180A-94BB-43CF-9EF8-DE2B84EE8158}" type="presParOf" srcId="{CCD83039-4539-4AF6-8E40-995CF90992E8}" destId="{0D409F59-32D2-4F4A-9C98-7F97E6974189}" srcOrd="2" destOrd="0" presId="urn:microsoft.com/office/officeart/2005/8/layout/hProcess7"/>
    <dgm:cxn modelId="{835F8FEF-39A4-49FB-88FF-CD9FFA2FA3A0}" type="presParOf" srcId="{0E55D1E4-202B-4CAE-9DA8-39F253C377A3}" destId="{C19565E9-7ACA-4C09-8B25-68C8EE182970}" srcOrd="5" destOrd="0" presId="urn:microsoft.com/office/officeart/2005/8/layout/hProcess7"/>
    <dgm:cxn modelId="{21A83503-6C1B-49D7-B9D2-1005A3411195}" type="presParOf" srcId="{0E55D1E4-202B-4CAE-9DA8-39F253C377A3}" destId="{6671C6F7-309C-4DC4-ACF6-D6F42AA39C30}" srcOrd="6" destOrd="0" presId="urn:microsoft.com/office/officeart/2005/8/layout/hProcess7"/>
    <dgm:cxn modelId="{F0A56B5C-FCBD-4F8A-9A24-AAA7F42515EB}" type="presParOf" srcId="{6671C6F7-309C-4DC4-ACF6-D6F42AA39C30}" destId="{28B1A96A-5492-4F55-B838-51E6D6EC3755}" srcOrd="0" destOrd="0" presId="urn:microsoft.com/office/officeart/2005/8/layout/hProcess7"/>
    <dgm:cxn modelId="{98A1F328-627C-4894-9C21-29BDAD6F1DED}" type="presParOf" srcId="{6671C6F7-309C-4DC4-ACF6-D6F42AA39C30}" destId="{5F59935E-C64E-4105-8852-F8C9F64BF1CC}" srcOrd="1" destOrd="0" presId="urn:microsoft.com/office/officeart/2005/8/layout/hProcess7"/>
    <dgm:cxn modelId="{72509EE0-6C0E-4B43-8DAE-8209C9C19FCD}" type="presParOf" srcId="{6671C6F7-309C-4DC4-ACF6-D6F42AA39C30}" destId="{2A636645-6315-4639-B23F-A9A2D3CC1102}" srcOrd="2" destOrd="0" presId="urn:microsoft.com/office/officeart/2005/8/layout/hProcess7"/>
    <dgm:cxn modelId="{92C2650F-43CE-4288-87FD-81D9526E4A3C}" type="presParOf" srcId="{0E55D1E4-202B-4CAE-9DA8-39F253C377A3}" destId="{CA90A246-1A2D-445E-AB01-AE1660013897}" srcOrd="7" destOrd="0" presId="urn:microsoft.com/office/officeart/2005/8/layout/hProcess7"/>
    <dgm:cxn modelId="{C8D80776-0187-4B47-92A6-17EEAF3C9C8A}" type="presParOf" srcId="{0E55D1E4-202B-4CAE-9DA8-39F253C377A3}" destId="{F15F2282-AB4A-4440-9223-D9F72122CB13}" srcOrd="8" destOrd="0" presId="urn:microsoft.com/office/officeart/2005/8/layout/hProcess7"/>
    <dgm:cxn modelId="{DCCBF130-2F15-481B-AE25-AFFEE1198B0C}" type="presParOf" srcId="{F15F2282-AB4A-4440-9223-D9F72122CB13}" destId="{A19A8F5E-119A-45B0-8019-BEFDDF52E88F}" srcOrd="0" destOrd="0" presId="urn:microsoft.com/office/officeart/2005/8/layout/hProcess7"/>
    <dgm:cxn modelId="{D7E5D09C-D5EE-4432-A301-C8634969E3CC}" type="presParOf" srcId="{F15F2282-AB4A-4440-9223-D9F72122CB13}" destId="{340366C6-F583-4992-B7CE-96D84BF42159}" srcOrd="1" destOrd="0" presId="urn:microsoft.com/office/officeart/2005/8/layout/hProcess7"/>
    <dgm:cxn modelId="{4365DCD1-E63A-4579-AC82-1F7E510B48B9}" type="presParOf" srcId="{F15F2282-AB4A-4440-9223-D9F72122CB13}" destId="{231F7C4F-0CEA-4400-9403-523031D2C2CC}" srcOrd="2" destOrd="0" presId="urn:microsoft.com/office/officeart/2005/8/layout/hProcess7"/>
    <dgm:cxn modelId="{032E8C09-E8DB-4458-8C7B-C40B2DE05D53}" type="presParOf" srcId="{0E55D1E4-202B-4CAE-9DA8-39F253C377A3}" destId="{AA5D4002-68B6-484F-BD5D-CDD25C928A8B}" srcOrd="9" destOrd="0" presId="urn:microsoft.com/office/officeart/2005/8/layout/hProcess7"/>
    <dgm:cxn modelId="{5A6B3EDF-FE2B-414A-8A9B-9C1CDEB6CBE5}" type="presParOf" srcId="{0E55D1E4-202B-4CAE-9DA8-39F253C377A3}" destId="{0445F77F-810F-4C06-8929-75EAE7AC9000}" srcOrd="10" destOrd="0" presId="urn:microsoft.com/office/officeart/2005/8/layout/hProcess7"/>
    <dgm:cxn modelId="{89E7B1A0-A58F-4C24-BDB4-DAA4CE1612FC}" type="presParOf" srcId="{0445F77F-810F-4C06-8929-75EAE7AC9000}" destId="{81C04C45-8EF4-4223-A1FC-F38A9AF899FE}" srcOrd="0" destOrd="0" presId="urn:microsoft.com/office/officeart/2005/8/layout/hProcess7"/>
    <dgm:cxn modelId="{A06289C4-C41E-4B1E-9E1C-345B79243A53}" type="presParOf" srcId="{0445F77F-810F-4C06-8929-75EAE7AC9000}" destId="{C104FF1E-34C6-436B-858D-04DF74F31945}" srcOrd="1" destOrd="0" presId="urn:microsoft.com/office/officeart/2005/8/layout/hProcess7"/>
    <dgm:cxn modelId="{236F8FBE-FDDB-48CD-98DB-6429DFB33160}" type="presParOf" srcId="{0445F77F-810F-4C06-8929-75EAE7AC9000}" destId="{A4CD029A-F68B-4764-93B8-E65A4B446630}" srcOrd="2" destOrd="0" presId="urn:microsoft.com/office/officeart/2005/8/layout/hProcess7"/>
    <dgm:cxn modelId="{88B87E51-9A91-4C0E-9D7C-2BE389FCA481}" type="presParOf" srcId="{0E55D1E4-202B-4CAE-9DA8-39F253C377A3}" destId="{5B5E9D5B-3FF4-49AC-BEA3-856EB743A800}" srcOrd="11" destOrd="0" presId="urn:microsoft.com/office/officeart/2005/8/layout/hProcess7"/>
    <dgm:cxn modelId="{A20D6A95-5C15-4FB5-A1F3-08F527CFE07E}" type="presParOf" srcId="{0E55D1E4-202B-4CAE-9DA8-39F253C377A3}" destId="{6B357510-6ADF-47B4-8B75-DACEA256E4B9}" srcOrd="12" destOrd="0" presId="urn:microsoft.com/office/officeart/2005/8/layout/hProcess7"/>
    <dgm:cxn modelId="{7F397FE0-2786-455A-BC7B-7050F9F04673}" type="presParOf" srcId="{6B357510-6ADF-47B4-8B75-DACEA256E4B9}" destId="{6FE160D3-B81D-46B0-BC74-88B4334AA1C0}" srcOrd="0" destOrd="0" presId="urn:microsoft.com/office/officeart/2005/8/layout/hProcess7"/>
    <dgm:cxn modelId="{2083ECB3-B27E-43ED-BFEB-B48D4A8B390D}" type="presParOf" srcId="{6B357510-6ADF-47B4-8B75-DACEA256E4B9}" destId="{709FB949-A4B3-46FD-9DA7-4AB0C62846E1}" srcOrd="1" destOrd="0" presId="urn:microsoft.com/office/officeart/2005/8/layout/hProcess7"/>
    <dgm:cxn modelId="{8C386226-0388-4480-BC9A-566ABE602CBB}" type="presParOf" srcId="{0E55D1E4-202B-4CAE-9DA8-39F253C377A3}" destId="{6BB910A8-DEB6-448C-AE3B-E94F4096F590}" srcOrd="13" destOrd="0" presId="urn:microsoft.com/office/officeart/2005/8/layout/hProcess7"/>
    <dgm:cxn modelId="{16692DB9-09A5-4D7F-A07C-566D4D78282A}" type="presParOf" srcId="{0E55D1E4-202B-4CAE-9DA8-39F253C377A3}" destId="{230953CA-31D4-4F23-81EB-B5433CBF5205}" srcOrd="14" destOrd="0" presId="urn:microsoft.com/office/officeart/2005/8/layout/hProcess7"/>
    <dgm:cxn modelId="{A3B06FEA-199C-4FCC-9C9A-5412A0C22560}" type="presParOf" srcId="{230953CA-31D4-4F23-81EB-B5433CBF5205}" destId="{2F414273-CD85-4744-A6E8-DDB0898D1440}" srcOrd="0" destOrd="0" presId="urn:microsoft.com/office/officeart/2005/8/layout/hProcess7"/>
    <dgm:cxn modelId="{4D26FF03-4BE9-4EC1-A90C-D168685C9435}" type="presParOf" srcId="{230953CA-31D4-4F23-81EB-B5433CBF5205}" destId="{C9CFCA2D-899E-4569-BC93-374FC857A606}" srcOrd="1" destOrd="0" presId="urn:microsoft.com/office/officeart/2005/8/layout/hProcess7"/>
    <dgm:cxn modelId="{3B40D27D-9D42-494F-BF4F-C9ECAF42530E}" type="presParOf" srcId="{230953CA-31D4-4F23-81EB-B5433CBF5205}" destId="{96A24E9E-6A6C-47D3-AF2A-3D5FBAF4F847}" srcOrd="2" destOrd="0" presId="urn:microsoft.com/office/officeart/2005/8/layout/hProcess7"/>
    <dgm:cxn modelId="{99C0FEDA-8F89-4AB9-B942-21BE9868AF4A}" type="presParOf" srcId="{0E55D1E4-202B-4CAE-9DA8-39F253C377A3}" destId="{2E127FC9-774D-4EFD-ADF3-1041986A623D}" srcOrd="15" destOrd="0" presId="urn:microsoft.com/office/officeart/2005/8/layout/hProcess7"/>
    <dgm:cxn modelId="{438A23A3-880C-4446-8947-0EA2549B77F3}" type="presParOf" srcId="{0E55D1E4-202B-4CAE-9DA8-39F253C377A3}" destId="{4B043925-6732-4F52-87A0-658EE3FBD888}" srcOrd="16" destOrd="0" presId="urn:microsoft.com/office/officeart/2005/8/layout/hProcess7"/>
    <dgm:cxn modelId="{780ED256-B15D-48D7-B3E8-1973DBD35FBF}" type="presParOf" srcId="{4B043925-6732-4F52-87A0-658EE3FBD888}" destId="{D36BE708-CD9C-4A36-9F2A-F34B621A2982}" srcOrd="0" destOrd="0" presId="urn:microsoft.com/office/officeart/2005/8/layout/hProcess7"/>
    <dgm:cxn modelId="{2F01C492-7EAF-4C00-9130-626CA8668650}" type="presParOf" srcId="{4B043925-6732-4F52-87A0-658EE3FBD888}" destId="{F3B92ACF-ACBD-4216-9A04-1788BA48AEC4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D52EB0-676D-4F9D-BEB8-C7931AB01CA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3701555-6F2C-457D-BA0B-CB3113C4AE5A}">
      <dgm:prSet phldrT="[Text]" phldr="0"/>
      <dgm:spPr/>
      <dgm:t>
        <a:bodyPr/>
        <a:lstStyle/>
        <a:p>
          <a:pPr rtl="0"/>
          <a:r>
            <a:rPr lang="en-US" b="1"/>
            <a:t>Gather application and KYC documents.</a:t>
          </a:r>
        </a:p>
      </dgm:t>
    </dgm:pt>
    <dgm:pt modelId="{152D94E1-3223-4097-AD1A-174CEB0EE14B}" type="parTrans" cxnId="{9B60B59A-B635-4866-9AA2-D8030BBA6077}">
      <dgm:prSet/>
      <dgm:spPr/>
    </dgm:pt>
    <dgm:pt modelId="{D42B9B18-74D8-4685-AE57-0194962A976F}" type="sibTrans" cxnId="{9B60B59A-B635-4866-9AA2-D8030BBA6077}">
      <dgm:prSet/>
      <dgm:spPr/>
    </dgm:pt>
    <dgm:pt modelId="{6356B2EC-019B-4B37-88D7-3381C686BDAA}">
      <dgm:prSet phldrT="[Text]" phldr="0"/>
      <dgm:spPr/>
      <dgm:t>
        <a:bodyPr/>
        <a:lstStyle/>
        <a:p>
          <a:pPr rtl="0"/>
          <a:r>
            <a:rPr lang="en-US" b="1"/>
            <a:t>Check KYC, income, credit, and financial details.</a:t>
          </a:r>
        </a:p>
      </dgm:t>
    </dgm:pt>
    <dgm:pt modelId="{E2E019D2-EC01-4335-95E5-B5DA45CFB4D4}" type="parTrans" cxnId="{C3FA0D0F-F502-4102-A6E2-F14B4E535A1E}">
      <dgm:prSet/>
      <dgm:spPr/>
    </dgm:pt>
    <dgm:pt modelId="{18F220FE-75A0-4D34-A611-B8DC9BC2441D}" type="sibTrans" cxnId="{C3FA0D0F-F502-4102-A6E2-F14B4E535A1E}">
      <dgm:prSet/>
      <dgm:spPr/>
    </dgm:pt>
    <dgm:pt modelId="{A6D46137-19A3-4250-B922-3A6DB17B9BD2}">
      <dgm:prSet phldrT="[Text]" phldr="0"/>
      <dgm:spPr/>
      <dgm:t>
        <a:bodyPr/>
        <a:lstStyle/>
        <a:p>
          <a:pPr rtl="0"/>
          <a:r>
            <a:rPr lang="en-US" b="1"/>
            <a:t>Approve, reject, or modify the loan based on policy.</a:t>
          </a:r>
        </a:p>
      </dgm:t>
    </dgm:pt>
    <dgm:pt modelId="{61F384F6-22C4-4261-A5E8-00D06ADA8A79}" type="parTrans" cxnId="{4A6D7317-BD8C-4C4B-80BA-D9F43CC6E503}">
      <dgm:prSet/>
      <dgm:spPr/>
    </dgm:pt>
    <dgm:pt modelId="{ABC3C4CC-2B02-4C23-9223-74DA4889A4E7}" type="sibTrans" cxnId="{4A6D7317-BD8C-4C4B-80BA-D9F43CC6E503}">
      <dgm:prSet/>
      <dgm:spPr/>
    </dgm:pt>
    <dgm:pt modelId="{0A9FEACF-A6B6-45FA-B1BB-30AF78F12DED}">
      <dgm:prSet phldrT="[Text]" phldr="0"/>
      <dgm:spPr/>
      <dgm:t>
        <a:bodyPr/>
        <a:lstStyle/>
        <a:p>
          <a:pPr rtl="0"/>
          <a:r>
            <a:rPr lang="en-US" b="1"/>
            <a:t>Complete agreements, checks, and disbursement.</a:t>
          </a:r>
          <a:endParaRPr lang="en-US" b="1">
            <a:latin typeface="Aptos Display" panose="02110004020202020204"/>
          </a:endParaRPr>
        </a:p>
      </dgm:t>
    </dgm:pt>
    <dgm:pt modelId="{1E04FE5A-004B-4847-BE8E-91D355818E47}" type="parTrans" cxnId="{C9192714-F8E7-4C9E-87CA-10E20CE6DB1D}">
      <dgm:prSet/>
      <dgm:spPr/>
    </dgm:pt>
    <dgm:pt modelId="{5117B403-BBBD-4C65-8302-2F6F3662D80B}" type="sibTrans" cxnId="{C9192714-F8E7-4C9E-87CA-10E20CE6DB1D}">
      <dgm:prSet/>
      <dgm:spPr/>
    </dgm:pt>
    <dgm:pt modelId="{FC21027F-FBBD-4CFD-B332-DFB92ACC08F3}">
      <dgm:prSet phldrT="[Text]" phldr="0"/>
      <dgm:spPr/>
      <dgm:t>
        <a:bodyPr/>
        <a:lstStyle/>
        <a:p>
          <a:pPr rtl="0"/>
          <a:r>
            <a:rPr lang="en-US" b="1"/>
            <a:t>Update loan, banking, CRM, and audit systems.</a:t>
          </a:r>
          <a:endParaRPr lang="en-US" b="1">
            <a:latin typeface="Aptos Display" panose="02110004020202020204"/>
          </a:endParaRPr>
        </a:p>
      </dgm:t>
    </dgm:pt>
    <dgm:pt modelId="{1FB149B1-F28C-4039-BF68-DF8F70E044C3}" type="parTrans" cxnId="{5B0A40AC-19CD-45B4-9BD9-3F0B5BE2B4D5}">
      <dgm:prSet/>
      <dgm:spPr/>
    </dgm:pt>
    <dgm:pt modelId="{01DCD21A-44E2-4454-822F-D3844AB18D98}" type="sibTrans" cxnId="{5B0A40AC-19CD-45B4-9BD9-3F0B5BE2B4D5}">
      <dgm:prSet/>
      <dgm:spPr/>
    </dgm:pt>
    <dgm:pt modelId="{C3842EB6-2001-4846-A945-3AC1A457F23C}" type="pres">
      <dgm:prSet presAssocID="{B7D52EB0-676D-4F9D-BEB8-C7931AB01CAA}" presName="Name0" presStyleCnt="0">
        <dgm:presLayoutVars>
          <dgm:dir/>
          <dgm:animLvl val="lvl"/>
          <dgm:resizeHandles val="exact"/>
        </dgm:presLayoutVars>
      </dgm:prSet>
      <dgm:spPr/>
    </dgm:pt>
    <dgm:pt modelId="{1DBBBD66-8F2F-4086-B02D-85C504E24AF1}" type="pres">
      <dgm:prSet presAssocID="{93701555-6F2C-457D-BA0B-CB3113C4AE5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3C77B81C-207A-401D-894D-6FC698074E4E}" type="pres">
      <dgm:prSet presAssocID="{D42B9B18-74D8-4685-AE57-0194962A976F}" presName="parTxOnlySpace" presStyleCnt="0"/>
      <dgm:spPr/>
    </dgm:pt>
    <dgm:pt modelId="{DF326750-089A-4D7F-BD9A-85608BB708F0}" type="pres">
      <dgm:prSet presAssocID="{6356B2EC-019B-4B37-88D7-3381C686BDA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1DD85E30-DFDE-4D0C-A82E-377D665560C0}" type="pres">
      <dgm:prSet presAssocID="{18F220FE-75A0-4D34-A611-B8DC9BC2441D}" presName="parTxOnlySpace" presStyleCnt="0"/>
      <dgm:spPr/>
    </dgm:pt>
    <dgm:pt modelId="{23B2201A-DED5-4930-B0BA-A064B67F3E4E}" type="pres">
      <dgm:prSet presAssocID="{A6D46137-19A3-4250-B922-3A6DB17B9BD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14F54E6-4FA0-4A60-8F0E-6BE73244D89C}" type="pres">
      <dgm:prSet presAssocID="{ABC3C4CC-2B02-4C23-9223-74DA4889A4E7}" presName="parTxOnlySpace" presStyleCnt="0"/>
      <dgm:spPr/>
    </dgm:pt>
    <dgm:pt modelId="{C7FC01E4-B7D7-4621-9A3C-89DA5D461C55}" type="pres">
      <dgm:prSet presAssocID="{0A9FEACF-A6B6-45FA-B1BB-30AF78F12DE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A95C8BF-DD2B-42C7-8272-BE52312207EF}" type="pres">
      <dgm:prSet presAssocID="{5117B403-BBBD-4C65-8302-2F6F3662D80B}" presName="parTxOnlySpace" presStyleCnt="0"/>
      <dgm:spPr/>
    </dgm:pt>
    <dgm:pt modelId="{188F3C25-C12A-4BF1-9011-F067EBD8345C}" type="pres">
      <dgm:prSet presAssocID="{FC21027F-FBBD-4CFD-B332-DFB92ACC08F3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3FA0D0F-F502-4102-A6E2-F14B4E535A1E}" srcId="{B7D52EB0-676D-4F9D-BEB8-C7931AB01CAA}" destId="{6356B2EC-019B-4B37-88D7-3381C686BDAA}" srcOrd="1" destOrd="0" parTransId="{E2E019D2-EC01-4335-95E5-B5DA45CFB4D4}" sibTransId="{18F220FE-75A0-4D34-A611-B8DC9BC2441D}"/>
    <dgm:cxn modelId="{C9192714-F8E7-4C9E-87CA-10E20CE6DB1D}" srcId="{B7D52EB0-676D-4F9D-BEB8-C7931AB01CAA}" destId="{0A9FEACF-A6B6-45FA-B1BB-30AF78F12DED}" srcOrd="3" destOrd="0" parTransId="{1E04FE5A-004B-4847-BE8E-91D355818E47}" sibTransId="{5117B403-BBBD-4C65-8302-2F6F3662D80B}"/>
    <dgm:cxn modelId="{4A6D7317-BD8C-4C4B-80BA-D9F43CC6E503}" srcId="{B7D52EB0-676D-4F9D-BEB8-C7931AB01CAA}" destId="{A6D46137-19A3-4250-B922-3A6DB17B9BD2}" srcOrd="2" destOrd="0" parTransId="{61F384F6-22C4-4261-A5E8-00D06ADA8A79}" sibTransId="{ABC3C4CC-2B02-4C23-9223-74DA4889A4E7}"/>
    <dgm:cxn modelId="{A9659145-F323-4264-9D93-BCA4DB64F1DF}" type="presOf" srcId="{93701555-6F2C-457D-BA0B-CB3113C4AE5A}" destId="{1DBBBD66-8F2F-4086-B02D-85C504E24AF1}" srcOrd="0" destOrd="0" presId="urn:microsoft.com/office/officeart/2005/8/layout/chevron1"/>
    <dgm:cxn modelId="{0E9F2175-92E3-438A-8EC1-4F82430B2239}" type="presOf" srcId="{0A9FEACF-A6B6-45FA-B1BB-30AF78F12DED}" destId="{C7FC01E4-B7D7-4621-9A3C-89DA5D461C55}" srcOrd="0" destOrd="0" presId="urn:microsoft.com/office/officeart/2005/8/layout/chevron1"/>
    <dgm:cxn modelId="{D0EC827B-E5EB-416C-8A98-C8DFD7C5A213}" type="presOf" srcId="{A6D46137-19A3-4250-B922-3A6DB17B9BD2}" destId="{23B2201A-DED5-4930-B0BA-A064B67F3E4E}" srcOrd="0" destOrd="0" presId="urn:microsoft.com/office/officeart/2005/8/layout/chevron1"/>
    <dgm:cxn modelId="{66870A89-85F6-4B0E-995F-C5C253713A33}" type="presOf" srcId="{FC21027F-FBBD-4CFD-B332-DFB92ACC08F3}" destId="{188F3C25-C12A-4BF1-9011-F067EBD8345C}" srcOrd="0" destOrd="0" presId="urn:microsoft.com/office/officeart/2005/8/layout/chevron1"/>
    <dgm:cxn modelId="{9B60B59A-B635-4866-9AA2-D8030BBA6077}" srcId="{B7D52EB0-676D-4F9D-BEB8-C7931AB01CAA}" destId="{93701555-6F2C-457D-BA0B-CB3113C4AE5A}" srcOrd="0" destOrd="0" parTransId="{152D94E1-3223-4097-AD1A-174CEB0EE14B}" sibTransId="{D42B9B18-74D8-4685-AE57-0194962A976F}"/>
    <dgm:cxn modelId="{5B0A40AC-19CD-45B4-9BD9-3F0B5BE2B4D5}" srcId="{B7D52EB0-676D-4F9D-BEB8-C7931AB01CAA}" destId="{FC21027F-FBBD-4CFD-B332-DFB92ACC08F3}" srcOrd="4" destOrd="0" parTransId="{1FB149B1-F28C-4039-BF68-DF8F70E044C3}" sibTransId="{01DCD21A-44E2-4454-822F-D3844AB18D98}"/>
    <dgm:cxn modelId="{7B1110CD-C6EB-413F-B1E2-EE530D2FE7E6}" type="presOf" srcId="{6356B2EC-019B-4B37-88D7-3381C686BDAA}" destId="{DF326750-089A-4D7F-BD9A-85608BB708F0}" srcOrd="0" destOrd="0" presId="urn:microsoft.com/office/officeart/2005/8/layout/chevron1"/>
    <dgm:cxn modelId="{A0DA7FF4-F25B-49B6-AA06-1D421582DAD1}" type="presOf" srcId="{B7D52EB0-676D-4F9D-BEB8-C7931AB01CAA}" destId="{C3842EB6-2001-4846-A945-3AC1A457F23C}" srcOrd="0" destOrd="0" presId="urn:microsoft.com/office/officeart/2005/8/layout/chevron1"/>
    <dgm:cxn modelId="{717A5810-EC93-4111-A3DA-8E1F6FA736E3}" type="presParOf" srcId="{C3842EB6-2001-4846-A945-3AC1A457F23C}" destId="{1DBBBD66-8F2F-4086-B02D-85C504E24AF1}" srcOrd="0" destOrd="0" presId="urn:microsoft.com/office/officeart/2005/8/layout/chevron1"/>
    <dgm:cxn modelId="{4F9DBCEF-1645-4DC1-8FF4-E2025E959E12}" type="presParOf" srcId="{C3842EB6-2001-4846-A945-3AC1A457F23C}" destId="{3C77B81C-207A-401D-894D-6FC698074E4E}" srcOrd="1" destOrd="0" presId="urn:microsoft.com/office/officeart/2005/8/layout/chevron1"/>
    <dgm:cxn modelId="{D138BC0D-7376-43CE-BBD1-A8D316A37998}" type="presParOf" srcId="{C3842EB6-2001-4846-A945-3AC1A457F23C}" destId="{DF326750-089A-4D7F-BD9A-85608BB708F0}" srcOrd="2" destOrd="0" presId="urn:microsoft.com/office/officeart/2005/8/layout/chevron1"/>
    <dgm:cxn modelId="{4A13FA77-3ED6-4D4B-A5C1-9C9DD1502CB3}" type="presParOf" srcId="{C3842EB6-2001-4846-A945-3AC1A457F23C}" destId="{1DD85E30-DFDE-4D0C-A82E-377D665560C0}" srcOrd="3" destOrd="0" presId="urn:microsoft.com/office/officeart/2005/8/layout/chevron1"/>
    <dgm:cxn modelId="{495DCC41-2F71-47FC-85F0-9A084DACD3E7}" type="presParOf" srcId="{C3842EB6-2001-4846-A945-3AC1A457F23C}" destId="{23B2201A-DED5-4930-B0BA-A064B67F3E4E}" srcOrd="4" destOrd="0" presId="urn:microsoft.com/office/officeart/2005/8/layout/chevron1"/>
    <dgm:cxn modelId="{2D1A8494-FFBD-468A-A6DC-09C3FEFD1062}" type="presParOf" srcId="{C3842EB6-2001-4846-A945-3AC1A457F23C}" destId="{B14F54E6-4FA0-4A60-8F0E-6BE73244D89C}" srcOrd="5" destOrd="0" presId="urn:microsoft.com/office/officeart/2005/8/layout/chevron1"/>
    <dgm:cxn modelId="{FA590D1F-64ED-4086-92EF-DB9EE963F37D}" type="presParOf" srcId="{C3842EB6-2001-4846-A945-3AC1A457F23C}" destId="{C7FC01E4-B7D7-4621-9A3C-89DA5D461C55}" srcOrd="6" destOrd="0" presId="urn:microsoft.com/office/officeart/2005/8/layout/chevron1"/>
    <dgm:cxn modelId="{BE5DB058-268C-4ADF-9FCB-9B85A6DBE5A3}" type="presParOf" srcId="{C3842EB6-2001-4846-A945-3AC1A457F23C}" destId="{5A95C8BF-DD2B-42C7-8272-BE52312207EF}" srcOrd="7" destOrd="0" presId="urn:microsoft.com/office/officeart/2005/8/layout/chevron1"/>
    <dgm:cxn modelId="{A32C4E74-139D-432C-8A74-19E8F3E3D6E9}" type="presParOf" srcId="{C3842EB6-2001-4846-A945-3AC1A457F23C}" destId="{188F3C25-C12A-4BF1-9011-F067EBD8345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C3EDF-7974-43FC-908C-8EAC777BE69C}">
      <dsp:nvSpPr>
        <dsp:cNvPr id="0" name=""/>
        <dsp:cNvSpPr/>
      </dsp:nvSpPr>
      <dsp:spPr>
        <a:xfrm>
          <a:off x="4968" y="0"/>
          <a:ext cx="1734705" cy="969186"/>
        </a:xfrm>
        <a:prstGeom prst="roundRect">
          <a:avLst>
            <a:gd name="adj" fmla="val 5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18900000" algn="bl" rotWithShape="0">
            <a:srgbClr val="00B0F0">
              <a:alpha val="40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 </a:t>
          </a:r>
        </a:p>
      </dsp:txBody>
      <dsp:txXfrm rot="16200000">
        <a:off x="-218926" y="223895"/>
        <a:ext cx="794732" cy="346941"/>
      </dsp:txXfrm>
    </dsp:sp>
    <dsp:sp modelId="{881EED22-1C64-4334-ADFD-0311D622F0DC}">
      <dsp:nvSpPr>
        <dsp:cNvPr id="0" name=""/>
        <dsp:cNvSpPr/>
      </dsp:nvSpPr>
      <dsp:spPr>
        <a:xfrm>
          <a:off x="351909" y="0"/>
          <a:ext cx="1292355" cy="96918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>
          <a:innerShdw blurRad="114300">
            <a:srgbClr val="FFFF00"/>
          </a:innerShdw>
        </a:effectLst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IN" sz="1400" b="1" kern="1200"/>
          </a:br>
          <a:r>
            <a:rPr lang="en-IN" sz="1400" b="1" kern="1200"/>
            <a:t>Slow </a:t>
          </a:r>
          <a:br>
            <a:rPr lang="en-IN" sz="1400" b="1" kern="1200"/>
          </a:br>
          <a:r>
            <a:rPr lang="en-IN" sz="1400" b="1" kern="1200"/>
            <a:t>Decision </a:t>
          </a:r>
        </a:p>
      </dsp:txBody>
      <dsp:txXfrm>
        <a:off x="351909" y="0"/>
        <a:ext cx="1292355" cy="969186"/>
      </dsp:txXfrm>
    </dsp:sp>
    <dsp:sp modelId="{A692F77F-9B54-4657-AC60-E269E917E9EE}">
      <dsp:nvSpPr>
        <dsp:cNvPr id="0" name=""/>
        <dsp:cNvSpPr/>
      </dsp:nvSpPr>
      <dsp:spPr>
        <a:xfrm>
          <a:off x="1800389" y="0"/>
          <a:ext cx="1734705" cy="969186"/>
        </a:xfrm>
        <a:prstGeom prst="roundRect">
          <a:avLst>
            <a:gd name="adj" fmla="val 5000"/>
          </a:avLst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 </a:t>
          </a:r>
        </a:p>
      </dsp:txBody>
      <dsp:txXfrm rot="16200000">
        <a:off x="1576493" y="223895"/>
        <a:ext cx="794732" cy="346941"/>
      </dsp:txXfrm>
    </dsp:sp>
    <dsp:sp modelId="{910CF58A-9B34-4203-BFB0-89794AC1FD46}">
      <dsp:nvSpPr>
        <dsp:cNvPr id="0" name=""/>
        <dsp:cNvSpPr/>
      </dsp:nvSpPr>
      <dsp:spPr>
        <a:xfrm rot="5400000">
          <a:off x="1737800" y="701291"/>
          <a:ext cx="142524" cy="26020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09F59-32D2-4F4A-9C98-7F97E6974189}">
      <dsp:nvSpPr>
        <dsp:cNvPr id="0" name=""/>
        <dsp:cNvSpPr/>
      </dsp:nvSpPr>
      <dsp:spPr>
        <a:xfrm>
          <a:off x="2147330" y="0"/>
          <a:ext cx="1292355" cy="96918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High Operational Cost</a:t>
          </a:r>
        </a:p>
      </dsp:txBody>
      <dsp:txXfrm>
        <a:off x="2147330" y="0"/>
        <a:ext cx="1292355" cy="969186"/>
      </dsp:txXfrm>
    </dsp:sp>
    <dsp:sp modelId="{A19A8F5E-119A-45B0-8019-BEFDDF52E88F}">
      <dsp:nvSpPr>
        <dsp:cNvPr id="0" name=""/>
        <dsp:cNvSpPr/>
      </dsp:nvSpPr>
      <dsp:spPr>
        <a:xfrm>
          <a:off x="3595810" y="0"/>
          <a:ext cx="1734705" cy="969186"/>
        </a:xfrm>
        <a:prstGeom prst="roundRect">
          <a:avLst>
            <a:gd name="adj" fmla="val 5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 </a:t>
          </a:r>
        </a:p>
      </dsp:txBody>
      <dsp:txXfrm rot="16200000">
        <a:off x="3371914" y="223895"/>
        <a:ext cx="794732" cy="346941"/>
      </dsp:txXfrm>
    </dsp:sp>
    <dsp:sp modelId="{5F59935E-C64E-4105-8852-F8C9F64BF1CC}">
      <dsp:nvSpPr>
        <dsp:cNvPr id="0" name=""/>
        <dsp:cNvSpPr/>
      </dsp:nvSpPr>
      <dsp:spPr>
        <a:xfrm rot="5400000">
          <a:off x="3533221" y="701291"/>
          <a:ext cx="142524" cy="26020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F7C4F-0CEA-4400-9403-523031D2C2CC}">
      <dsp:nvSpPr>
        <dsp:cNvPr id="0" name=""/>
        <dsp:cNvSpPr/>
      </dsp:nvSpPr>
      <dsp:spPr>
        <a:xfrm>
          <a:off x="3942751" y="0"/>
          <a:ext cx="1292355" cy="96918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Knowledge Bottlenecks</a:t>
          </a:r>
        </a:p>
      </dsp:txBody>
      <dsp:txXfrm>
        <a:off x="3942751" y="0"/>
        <a:ext cx="1292355" cy="969186"/>
      </dsp:txXfrm>
    </dsp:sp>
    <dsp:sp modelId="{6FE160D3-B81D-46B0-BC74-88B4334AA1C0}">
      <dsp:nvSpPr>
        <dsp:cNvPr id="0" name=""/>
        <dsp:cNvSpPr/>
      </dsp:nvSpPr>
      <dsp:spPr>
        <a:xfrm>
          <a:off x="5391230" y="0"/>
          <a:ext cx="1734705" cy="969186"/>
        </a:xfrm>
        <a:prstGeom prst="roundRect">
          <a:avLst>
            <a:gd name="adj" fmla="val 5000"/>
          </a:avLst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6200000">
        <a:off x="5167335" y="223895"/>
        <a:ext cx="794732" cy="346941"/>
      </dsp:txXfrm>
    </dsp:sp>
    <dsp:sp modelId="{C104FF1E-34C6-436B-858D-04DF74F31945}">
      <dsp:nvSpPr>
        <dsp:cNvPr id="0" name=""/>
        <dsp:cNvSpPr/>
      </dsp:nvSpPr>
      <dsp:spPr>
        <a:xfrm rot="5400000">
          <a:off x="5328641" y="701291"/>
          <a:ext cx="142524" cy="26020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BE708-CD9C-4A36-9F2A-F34B621A2982}">
      <dsp:nvSpPr>
        <dsp:cNvPr id="0" name=""/>
        <dsp:cNvSpPr/>
      </dsp:nvSpPr>
      <dsp:spPr>
        <a:xfrm>
          <a:off x="7186651" y="0"/>
          <a:ext cx="1734705" cy="969186"/>
        </a:xfrm>
        <a:prstGeom prst="roundRect">
          <a:avLst>
            <a:gd name="adj" fmla="val 5000"/>
          </a:avLst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0861" rIns="40005" bIns="0" numCol="1" spcCol="1270" anchor="t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16200000">
        <a:off x="6962755" y="223895"/>
        <a:ext cx="794732" cy="346941"/>
      </dsp:txXfrm>
    </dsp:sp>
    <dsp:sp modelId="{C9CFCA2D-899E-4569-BC93-374FC857A606}">
      <dsp:nvSpPr>
        <dsp:cNvPr id="0" name=""/>
        <dsp:cNvSpPr/>
      </dsp:nvSpPr>
      <dsp:spPr>
        <a:xfrm rot="5400000">
          <a:off x="7124062" y="701291"/>
          <a:ext cx="142524" cy="260205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BBD66-8F2F-4086-B02D-85C504E24AF1}">
      <dsp:nvSpPr>
        <dsp:cNvPr id="0" name=""/>
        <dsp:cNvSpPr/>
      </dsp:nvSpPr>
      <dsp:spPr>
        <a:xfrm>
          <a:off x="2878" y="1434164"/>
          <a:ext cx="2561484" cy="1024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Gather application and KYC documents.</a:t>
          </a:r>
        </a:p>
      </dsp:txBody>
      <dsp:txXfrm>
        <a:off x="515175" y="1434164"/>
        <a:ext cx="1536891" cy="1024593"/>
      </dsp:txXfrm>
    </dsp:sp>
    <dsp:sp modelId="{DF326750-089A-4D7F-BD9A-85608BB708F0}">
      <dsp:nvSpPr>
        <dsp:cNvPr id="0" name=""/>
        <dsp:cNvSpPr/>
      </dsp:nvSpPr>
      <dsp:spPr>
        <a:xfrm>
          <a:off x="2308214" y="1434164"/>
          <a:ext cx="2561484" cy="1024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Check KYC, income, credit, and financial details.</a:t>
          </a:r>
        </a:p>
      </dsp:txBody>
      <dsp:txXfrm>
        <a:off x="2820511" y="1434164"/>
        <a:ext cx="1536891" cy="1024593"/>
      </dsp:txXfrm>
    </dsp:sp>
    <dsp:sp modelId="{23B2201A-DED5-4930-B0BA-A064B67F3E4E}">
      <dsp:nvSpPr>
        <dsp:cNvPr id="0" name=""/>
        <dsp:cNvSpPr/>
      </dsp:nvSpPr>
      <dsp:spPr>
        <a:xfrm>
          <a:off x="4613551" y="1434164"/>
          <a:ext cx="2561484" cy="1024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Approve, reject, or modify the loan based on policy.</a:t>
          </a:r>
        </a:p>
      </dsp:txBody>
      <dsp:txXfrm>
        <a:off x="5125848" y="1434164"/>
        <a:ext cx="1536891" cy="1024593"/>
      </dsp:txXfrm>
    </dsp:sp>
    <dsp:sp modelId="{C7FC01E4-B7D7-4621-9A3C-89DA5D461C55}">
      <dsp:nvSpPr>
        <dsp:cNvPr id="0" name=""/>
        <dsp:cNvSpPr/>
      </dsp:nvSpPr>
      <dsp:spPr>
        <a:xfrm>
          <a:off x="6918887" y="1434164"/>
          <a:ext cx="2561484" cy="1024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Complete agreements, checks, and disbursement.</a:t>
          </a:r>
          <a:endParaRPr lang="en-US" sz="1500" b="1" kern="1200">
            <a:latin typeface="Aptos Display" panose="02110004020202020204"/>
          </a:endParaRPr>
        </a:p>
      </dsp:txBody>
      <dsp:txXfrm>
        <a:off x="7431184" y="1434164"/>
        <a:ext cx="1536891" cy="1024593"/>
      </dsp:txXfrm>
    </dsp:sp>
    <dsp:sp modelId="{188F3C25-C12A-4BF1-9011-F067EBD8345C}">
      <dsp:nvSpPr>
        <dsp:cNvPr id="0" name=""/>
        <dsp:cNvSpPr/>
      </dsp:nvSpPr>
      <dsp:spPr>
        <a:xfrm>
          <a:off x="9224223" y="1434164"/>
          <a:ext cx="2561484" cy="10245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Update loan, banking, CRM, and audit systems.</a:t>
          </a:r>
          <a:endParaRPr lang="en-US" sz="1500" b="1" kern="1200">
            <a:latin typeface="Aptos Display" panose="02110004020202020204"/>
          </a:endParaRPr>
        </a:p>
      </dsp:txBody>
      <dsp:txXfrm>
        <a:off x="9736520" y="1434164"/>
        <a:ext cx="1536891" cy="1024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5B1847-9AF3-998B-FC05-5B43C8D4AD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32F15-1176-4AA5-F739-9DE874B53C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9FFE1-3FB2-425F-9CB1-220512F748D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91186-7F7F-345F-2A61-A2963B837B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ADCFA-610D-6F0E-C976-1F3BBB1EB5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F2E93-1CC1-4980-A1D3-BEFB29A5E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1012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4D4D1-53F3-AE4B-BF79-4E6242ABFFA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6CD11-8D17-CF43-82C4-AE101F43B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0627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0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8632-98FB-80D5-6BB4-B35FC152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ED6D8-7242-2D3C-C316-F1DDD4BB0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E80C4-DEAC-A9B0-A42E-122ED43FA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4A07D-D7DE-6EA6-94C4-636D5E9A8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57FD-0241-29CE-6EF4-8D3D98DE86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34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5716-5E6F-53B4-8B63-5F651708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EDB51-7590-538E-AE3A-1A27FCFF5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12091-A89F-3837-4542-DEE933C0D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0CFC5-19EC-765A-F19A-2A85E6C68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D0C04-5312-E2BB-1680-52175C6054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78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1B6F0-25B0-7034-4CED-35686972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07CAC-1D00-63E1-A47B-4CA134B63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AF9AD-339D-FFE0-EAFB-329CC5A2E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8AF97-8DA5-70E2-633F-28B3156CD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2BFBC-33E1-13D7-FF98-F1D35A2FB3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28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39E8-196C-15B5-EB67-005361D1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1D162-983D-7D46-2E32-1929CE7E9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9E05F-76EE-EE32-11C0-4AD56331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2D492-A57F-AE56-FCDC-F2D5A4AAE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96D25-73D0-2BBA-48CF-82DDBF9862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9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FE07-1B23-4609-B04E-381342E2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0743B-DDEF-29E8-1357-DB8257EE1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FFFF4-CB7A-8653-864D-6A95AD257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F9F3E-6AE3-4DC1-32B9-A437AE2E8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6A20-D074-B55F-ECF7-C5D1B40177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8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FEA7A-235E-4B44-E9E2-C9BA4ED6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51247-BB9A-5B61-0323-7D4B3AE28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A8272-1665-1751-E192-C763FF180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EC7AC-F6C9-9EAA-9628-D6276BBDA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BB79A-CF88-F28A-61AD-F7AE5010E5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02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0EEF-836F-F487-7D8C-76BEDC4C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958C8-EF13-37D1-FF01-527B8F874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CB601-AE6B-FBD3-2C00-A44BB3C93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0C11B-2726-F0EB-C87C-096029A85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4C39D-9C68-8232-997F-3172237D13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64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8141-6C72-3008-9252-931A9237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B3ECF-5FF2-10D1-56D3-95064A0F2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4DB1B-5CD1-6455-96DE-BB3032119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F9DF8-43A3-B634-3EE2-42491F6AE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D4D87-EF3D-179E-F589-BA36FAF135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17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E6B5-D55B-7C51-60FA-A41B4BFD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667B9-80BE-8E32-E53B-46970733E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4731A-3C6F-9386-9891-026F722A4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70034-C0DA-EE75-59FF-17A960C43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F03B-74F6-DF89-CAEE-12093B27F1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43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33AD0-CB62-BE86-34A8-C29C28E8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B7E7C-0E2D-C4BA-D808-7E7DE22EC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6EF5B-4772-338D-F70D-80E9B2CE9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50906-6B0A-5B23-EF39-DD721AA33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1405C-0C06-DA73-7D40-A7D2971884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97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063-980D-82CA-FE4F-952D3D69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9660D-EEA9-1EF2-E604-A27A267D9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F6E39-6177-0A98-7285-8E267F54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94261-9DDE-0FD3-3417-2BE6B7FA9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1ADD-CF1D-2E4A-2271-B9805B1B3D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45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6F97-929D-6DAB-6B85-69AA4AAF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57BEE-2E27-708F-988D-2F1D5962E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C3388-8273-ADC7-ACCC-FA044B4C6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13B55-A805-AFAC-E5E1-CDC8D1D67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B17B3-2C07-DE92-29C8-13F74FD998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52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04CDF-D2EE-3BAF-6ED9-44FB7A2E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D6A6E-823D-F066-61FD-35DA7825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D825C-AFD3-05CD-E2FE-28B660F0B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96B6C-49CE-AE3C-A118-4FB22488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471D0-4ACF-C880-1B0F-7FA6AD71DF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49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2252-9A44-34A3-0678-40147870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08226-21B6-96D0-7456-61CC2AFED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C238A-37A0-A9F4-D79D-8610D6A81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0C28B-F903-8B42-5EC3-7A8AC46D0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CD11-8D17-CF43-82C4-AE101F43B611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DB64-F571-5014-89F0-809D9820B5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9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99FA-34B0-3955-1985-DEF873883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502AB-0B37-0DEE-BAFE-72967C7F2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19587-D8BD-42BD-5732-8CC2D03E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5F90-6145-4B09-8413-74AF8825544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375CD-94E6-86E4-4B28-5FE5EE03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78BFE-EAFF-D98D-7552-69F626FC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0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638E-3A0B-3B31-1B5E-D502731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EA7FA-CEC1-2EB7-1C98-EBE04EE7E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BC497-F0F0-A900-1FEE-72FE4181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09F67-A127-49AF-A190-94D635E02E2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1D61C-4D3B-9C75-E7F3-795FC5EA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D6560-8D2F-A0B2-5BE8-01D798F2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41BF7-C416-9676-3E8E-383C715D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CF26-6B57-8019-7716-869C5084D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1FF7-BD80-CB52-6EC0-074AD257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8A543-374C-4469-9C89-5162C4F1B37F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F48CC-AF91-D293-6B86-A59B150C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CA6A5-652A-9DA5-BE00-7AC9AEB1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4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8E0E-73C2-E989-D69C-B756DDBE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184A-2B86-5E24-87DF-ECA666070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E4DAF-C891-4CD2-96F3-877736C8E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C201C-4D46-90D0-6384-D9B9BD71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3F2E7-BA2F-4D9A-A80A-AA5F81BF0246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A4B3-A782-8B92-7710-7C7AD508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4B36B-88F9-7CE7-E4BF-CBC3B119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9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CA2C-1BDE-D4CE-9485-BF9A2880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EF3D6-5E8C-80C3-2357-14EAB2042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E1101-6A9F-0D90-7B01-22EB79B72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0F6A2-07BE-F97A-8DC7-856ACABF7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96733-C81D-9E03-C1EC-300E19C97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01AF9-02C9-C85F-73BF-9BC8A81B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EBC43-6401-4E44-B00E-75E3B94AEBAE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B6789-98C8-123C-AD5B-EBB08F99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E0797-BEDF-992A-0B04-4E7303CD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7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B97F-4754-00AF-719B-89697921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9C559-DB96-9DB3-862A-76BE92C5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C99D-8F6B-4ED4-BA8C-DAB5A66A1D87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0AE41-DB3F-608F-1E6E-830C7DDB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51886-390E-E73F-62C7-D4835C07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A06B2-F8C8-9FAB-FDC5-F944CB86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F02C-FC02-444A-9CD8-6D564A8070A8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B1D83-8855-27D6-8FFC-53944A1C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D23A7-F5C7-B150-BCA7-4AD6069B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22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2CE1-D5FD-A95B-E620-90C6881D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C86-DD95-5754-D124-F64B15F1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826D-7722-F038-4019-3B78B2E67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270E6-0EF2-3E1D-01FD-2BD079E6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E2C94-9470-417C-8DBB-70B2BF24008E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B0F55-1D49-B057-05C2-C60EDB64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63E0D-3630-55A0-BB3F-97922BFF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5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B246-7290-EFB3-11A7-9C8D2532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D8B3B-B03A-93A0-A6E5-E04F42995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3F4D2-41EF-34D7-51ED-EC9538FDE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0E600-FDBA-512E-E6ED-988A83AC4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00E89-EDB2-4633-8F21-6B67E3B1CEC7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8E9F7-BDB6-85E0-3D0F-629F1C42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5A729-D7E0-CAEB-228B-B3BC2A03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0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F4D0-33B4-C075-C323-DE2EF696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A8AB3-6614-1F5A-5A67-4DFA52188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C4094-00FF-99CD-5BFC-F1BEBD48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E32D9-8425-46D3-B23A-DB8805A71A3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EAF7-35F7-18BF-F403-D2EF65D5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54641-F600-E54F-8E9F-2F75DEF9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3CC76-11AB-8CE0-03BC-E211C76C6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652F9-F9D8-EE07-7E57-B9CD3ED7D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CBEA-80D8-5A20-8DED-F698BF10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99EA-3A80-495B-86EC-6702E579842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1579-6C37-FE22-53C1-86000FAB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F90E0-CD9F-6B35-7544-98C8E06D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07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27F7F-DE20-0601-4F79-74129811C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42574-00E5-CEBA-CE1C-4CE69EC65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6BFB8-66FD-D8A5-B733-6B4CF4BF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E875-80D8-49A5-8F42-D5513C851BB2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19772-0D0A-5651-9761-B4D0781C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BB42-62D1-6078-0C59-3B9CE792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2CFF-4FCF-3A2B-E141-23EA4A5B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3235-C92C-31D2-FF47-D349F550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15F3C-E3B7-9F8D-D904-0D5ADA27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D7A0-2729-4B60-B95E-03077383322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B1B23-C81D-F6D1-0D61-DCC8885E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BF99-2C0A-A942-E582-9E6437FB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6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A02E-EFDA-5671-E44B-68835BB2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F0BCB-59E4-6EB1-239B-3E47C604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50C0E-00BF-E645-B7B0-D71A5264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8267-DDD1-4F5C-8502-535E472831F6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9C269-89F2-6230-BAD1-494D4A9D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0532-ED0E-B1A7-8C77-83072EA1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1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2403-8338-63B3-B015-DEACD884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0670-FF81-89FF-8634-B106AA669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B7681-23D2-7F48-29FC-BD2EF4C0E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3CAAF-513C-F937-1C28-55B7E0FE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E448A-3EA5-4B35-8869-788F8FBE5A8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1F516-6636-B38C-852B-507AD8D5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F90B-EA52-B538-1CE8-09DE3F06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2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E811-D897-3A42-2954-3963BA28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7F90C-E27E-812F-D2CA-61F649082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7C9BE-B582-2590-ACA6-4C082BC23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6E047-763A-74D5-9632-9B0C98BB0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4F2B5-FB60-547D-9A9F-63526D1F3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F1261-3F5A-E500-8B2D-A92D14D3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0E80E-A8BD-46A9-A4E8-C74084A8D3AF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6957D-7E71-6DAD-CA65-FD6556BC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395F5-01CD-9DEF-743E-2A2F10E2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3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8DE8-04AB-11A6-77BF-212577AC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C9B0F-526C-BF18-A08B-8832FA51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4CBDE-AA51-4703-A93B-1D5827BFDC1A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600F9-B90E-2E3C-F09F-09B622B8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8268D-AD6C-5053-2750-1E3004D7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6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E7F4D-04E7-1268-98E6-9EBA523F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F99D-AB90-4CFF-9896-9FCCCD8F8D32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9A265-8DC5-BA57-5437-479D3186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0F053-9172-7C6E-4AB1-FB27A5CC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9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2B88-63BA-9344-BC88-7CE64735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3B69-57D3-9279-0CF7-686B2A6E0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9B88-1110-8623-F563-4AFDEAB71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C2317-53B9-0B5F-4316-1714CE4F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C544-EFDE-4476-89D3-059BA9594007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9BBCD-6E24-95B7-6D05-6586D009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923B9-6AEE-0E5D-E417-0D597E04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A496-2514-47F9-1340-33ECCB24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D75D99-C119-36EE-9522-7043AE46E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3F6EF-4A7E-0DDF-DCBD-C1B7A7424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57449-01BA-05F6-9A08-A201DBE1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7E00-A570-4B5C-84E2-3596275DF10E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03B57-D08C-6964-B643-EF77FA00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5791B-0AEE-BD0C-F602-DFF7600E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1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CECE-4EFD-2662-2805-DC5392E4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501FB-E0A7-FA54-629C-6A0552AF8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6699-2F77-E892-851E-006BF45C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0C11-0585-48A0-AF1A-8DB3FF16DDD4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BB2-D016-902A-DAFB-C1AA21AA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EFA9B-CB88-2292-87A1-E8A7A167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3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BEE89-455B-86D9-162B-9D2C9A0C7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4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4ED39-02EE-86D0-9B0C-7BA5999B7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4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3CAD7-2F29-5E64-9D37-20733FF4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865E-1666-44BA-9500-1AB28B21AA2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E8423-BEC0-8435-407C-F8EAFAB1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91C47-3A32-09BB-869F-F65A02E9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46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91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63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89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94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26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168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4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20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A891E-B1C0-0110-2941-871E2EE4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19944-9363-FAD2-964D-1517B34B5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9140F-BED2-C9F6-50FF-47CAFC5B9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0956-B78A-44AD-8AE4-3B739EAC0E4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062A-475E-D42B-B879-347F309D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38F9-89F7-B7A6-E581-8498A4680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01284-5284-004E-B28F-3FBE00A0B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43C5F-430C-4473-0601-D66D0314F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2C79E-3A88-E54E-6081-898FEE8C4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4E38-E1A7-11DE-5E66-CD098A1B1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4DEC5-C79A-45A0-82EA-D1901A554A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9CC1F-D174-1230-4B65-B1AE4497A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TruZt AI - HACKFEST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16A9-DA2A-C094-64AF-8C30968EE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EE3DF-8561-457E-BBA2-0A70F43E1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8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1.xml"/><Relationship Id="rId12" Type="http://schemas.openxmlformats.org/officeDocument/2006/relationships/diagramLayout" Target="../diagrams/layou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diagramData" Target="../diagrams/data2.xml"/><Relationship Id="rId5" Type="http://schemas.openxmlformats.org/officeDocument/2006/relationships/diagramData" Target="../diagrams/data1.xml"/><Relationship Id="rId15" Type="http://schemas.microsoft.com/office/2007/relationships/diagramDrawing" Target="../diagrams/drawing2.xml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microsoft.com/office/2007/relationships/diagramDrawing" Target="../diagrams/drawing1.xml"/><Relationship Id="rId14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29BA7FD-A6C4-90CC-34A3-6B68D7FA9AAC}"/>
              </a:ext>
            </a:extLst>
          </p:cNvPr>
          <p:cNvSpPr/>
          <p:nvPr/>
        </p:nvSpPr>
        <p:spPr>
          <a:xfrm>
            <a:off x="7257900" y="1471495"/>
            <a:ext cx="4008001" cy="3910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5A7F0752-708C-186D-C5FA-032271CFF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845" y="385395"/>
            <a:ext cx="1816771" cy="793924"/>
          </a:xfrm>
          <a:prstGeom prst="rect">
            <a:avLst/>
          </a:prstGeom>
        </p:spPr>
      </p:pic>
      <p:sp>
        <p:nvSpPr>
          <p:cNvPr id="4" name="2025 ZUCI SYSTEMS">
            <a:extLst>
              <a:ext uri="{FF2B5EF4-FFF2-40B4-BE49-F238E27FC236}">
                <a16:creationId xmlns:a16="http://schemas.microsoft.com/office/drawing/2014/main" id="{AD209C84-CB0F-3634-2441-32C44A3F5368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5D30A1-CA16-D4B3-BA09-D0089CF5203C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</a:t>
            </a:fld>
            <a:endParaRPr lang="en-US" sz="1000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7F3A3-6E6B-2470-79E5-9FBF344BF3C0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9224B14B-4EDD-6A47-77F7-D47763099A10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AA208CE-8E89-9CDC-8D1E-0FB8D74B3B05}"/>
              </a:ext>
            </a:extLst>
          </p:cNvPr>
          <p:cNvSpPr txBox="1"/>
          <p:nvPr/>
        </p:nvSpPr>
        <p:spPr>
          <a:xfrm>
            <a:off x="367937" y="38656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F89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 — NEXT-GENERATION SERVICE OFFERINGS</a:t>
            </a:r>
            <a:r>
              <a:rPr lang="en-US" sz="13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A0C63A7-84F7-5B26-EDC6-49CCF261C31E}"/>
              </a:ext>
            </a:extLst>
          </p:cNvPr>
          <p:cNvSpPr txBox="1"/>
          <p:nvPr/>
        </p:nvSpPr>
        <p:spPr>
          <a:xfrm>
            <a:off x="302559" y="716393"/>
            <a:ext cx="8638072" cy="2110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4400" b="1">
                <a:solidFill>
                  <a:srgbClr val="002060"/>
                </a:solidFill>
                <a:latin typeface="Times New Roman"/>
                <a:ea typeface="Cambria"/>
                <a:cs typeface="Times New Roman"/>
              </a:rPr>
              <a:t>Legacy-to-Agent</a:t>
            </a:r>
            <a:r>
              <a:rPr lang="en-US" sz="4400" b="1">
                <a:solidFill>
                  <a:srgbClr val="002060"/>
                </a:solidFill>
                <a:latin typeface="Times New Roman"/>
                <a:ea typeface="+mn-lt"/>
                <a:cs typeface="Times New Roman"/>
              </a:rPr>
              <a:t> Transformation</a:t>
            </a:r>
            <a:endParaRPr lang="en-US" sz="4400" b="1">
              <a:solidFill>
                <a:srgbClr val="002060"/>
              </a:solidFill>
              <a:latin typeface="Times New Roman"/>
              <a:ea typeface="Cambria"/>
              <a:cs typeface="Times New Roman"/>
            </a:endParaRPr>
          </a:p>
          <a:p>
            <a:pPr>
              <a:lnSpc>
                <a:spcPct val="105000"/>
              </a:lnSpc>
            </a:pPr>
            <a:r>
              <a:rPr lang="en-US" sz="4400" b="1">
                <a:solidFill>
                  <a:srgbClr val="002060"/>
                </a:solidFill>
                <a:latin typeface="Times New Roman"/>
                <a:ea typeface="Cambria"/>
                <a:cs typeface="Times New Roman"/>
              </a:rPr>
              <a:t>Factory</a:t>
            </a:r>
            <a:endParaRPr lang="en-US" sz="4400" b="1">
              <a:latin typeface="Times New Roman"/>
              <a:ea typeface="Cambria"/>
              <a:cs typeface="Times New 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0910E3-EB04-3A24-949E-CB0376C9A6BC}"/>
              </a:ext>
            </a:extLst>
          </p:cNvPr>
          <p:cNvSpPr txBox="1"/>
          <p:nvPr/>
        </p:nvSpPr>
        <p:spPr>
          <a:xfrm>
            <a:off x="2700665" y="5741396"/>
            <a:ext cx="8696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kern="0" spc="200">
                <a:solidFill>
                  <a:srgbClr val="F89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. GOVERN. DEPLOY. SCALE AI Agents Across Enterprise.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A676D5-8425-00AA-C422-D36CF6626530}"/>
              </a:ext>
            </a:extLst>
          </p:cNvPr>
          <p:cNvSpPr txBox="1"/>
          <p:nvPr/>
        </p:nvSpPr>
        <p:spPr>
          <a:xfrm>
            <a:off x="-143692" y="4610617"/>
            <a:ext cx="719283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600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 repeatable methodology  for upgrading 'Human-Run' centric Enterprise Workflows into 'Agent-Orchestrated, Human-Governed' workflows.</a:t>
            </a:r>
            <a:endParaRPr lang="en-US" sz="160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BF813E-BB0D-EA11-90A3-B28277C1A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845" y="1571168"/>
            <a:ext cx="5924691" cy="333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F8F21-EB60-A3E3-8B4E-765A646E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8191A49-7244-FEC1-8878-D4BBC5E1F0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F30E2383-32E2-268F-1453-A898734215C6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E41719-BCF2-06B2-A704-98B8283F3844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695685D-363F-9370-9F0A-B672D31043B0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29E99C8-FCC8-C287-5DFA-51BEB800534E}"/>
              </a:ext>
            </a:extLst>
          </p:cNvPr>
          <p:cNvSpPr txBox="1"/>
          <p:nvPr/>
        </p:nvSpPr>
        <p:spPr>
          <a:xfrm>
            <a:off x="370402" y="433409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2000"/>
              </a:lnSpc>
            </a:pPr>
            <a:r>
              <a:rPr lang="en-US" sz="2400" b="1"/>
              <a:t>The Business Problem</a:t>
            </a:r>
            <a:endParaRPr lang="en-IN" sz="2400" b="1"/>
          </a:p>
          <a:p>
            <a:pPr marL="0" indent="0">
              <a:lnSpc>
                <a:spcPct val="102000"/>
              </a:lnSpc>
              <a:buNone/>
            </a:pPr>
            <a:endParaRPr lang="en-US" sz="270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0D523EE-5D79-E9F6-59FB-5DB94B7FD20C}"/>
              </a:ext>
            </a:extLst>
          </p:cNvPr>
          <p:cNvSpPr txBox="1"/>
          <p:nvPr/>
        </p:nvSpPr>
        <p:spPr>
          <a:xfrm>
            <a:off x="370402" y="873599"/>
            <a:ext cx="10789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i="1">
                <a:solidFill>
                  <a:srgbClr val="002060"/>
                </a:solidFill>
              </a:rPr>
              <a:t>Organizations Still Depend on </a:t>
            </a:r>
            <a:r>
              <a:rPr lang="en-US" i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'Human-Run' centric workflows</a:t>
            </a:r>
            <a:endParaRPr lang="en-IN" sz="1400" b="1" i="1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sz="1400" b="1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1826F2E1-33E4-91E0-232C-EE39931B9EDD}"/>
              </a:ext>
            </a:extLst>
          </p:cNvPr>
          <p:cNvSpPr txBox="1"/>
          <p:nvPr/>
        </p:nvSpPr>
        <p:spPr>
          <a:xfrm>
            <a:off x="1012134" y="5795195"/>
            <a:ext cx="10515600" cy="397364"/>
          </a:xfrm>
          <a:prstGeom prst="rect">
            <a:avLst/>
          </a:prstGeom>
          <a:noFill/>
          <a:ln>
            <a:solidFill>
              <a:srgbClr val="4B2A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</a:t>
            </a:r>
            <a:r>
              <a:rPr lang="en-US" sz="1600" i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can we use AI”</a:t>
            </a:r>
            <a:r>
              <a:rPr lang="en-US" sz="16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</a:t>
            </a:r>
            <a:r>
              <a:rPr lang="en-US" sz="1600" b="1" i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processes are ready to be transformed.”</a:t>
            </a:r>
            <a:endParaRPr lang="en-US" sz="1600">
              <a:solidFill>
                <a:srgbClr val="002060"/>
              </a:solidFill>
            </a:endParaRPr>
          </a:p>
        </p:txBody>
      </p:sp>
      <p:sp>
        <p:nvSpPr>
          <p:cNvPr id="81" name="Slide Number Placeholder 3">
            <a:extLst>
              <a:ext uri="{FF2B5EF4-FFF2-40B4-BE49-F238E27FC236}">
                <a16:creationId xmlns:a16="http://schemas.microsoft.com/office/drawing/2014/main" id="{5AF8A35F-5227-FFF3-147D-71E076983968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2</a:t>
            </a:fld>
            <a:endParaRPr lang="en-US" sz="1000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B670F-A90A-D721-46AF-0EF022B7C4CD}"/>
              </a:ext>
            </a:extLst>
          </p:cNvPr>
          <p:cNvSpPr txBox="1"/>
          <p:nvPr/>
        </p:nvSpPr>
        <p:spPr>
          <a:xfrm>
            <a:off x="3409768" y="1114126"/>
            <a:ext cx="606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/>
              <a:t>Current State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1CE63E1-A17C-E675-337B-FF0536C532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5377292"/>
              </p:ext>
            </p:extLst>
          </p:nvPr>
        </p:nvGraphicFramePr>
        <p:xfrm>
          <a:off x="1331408" y="4749026"/>
          <a:ext cx="8926326" cy="969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BEEF9E1-EE28-5A49-E486-DD79D2B76EB8}"/>
              </a:ext>
            </a:extLst>
          </p:cNvPr>
          <p:cNvSpPr txBox="1"/>
          <p:nvPr/>
        </p:nvSpPr>
        <p:spPr>
          <a:xfrm>
            <a:off x="368728" y="4377791"/>
            <a:ext cx="4321628" cy="369332"/>
          </a:xfrm>
          <a:prstGeom prst="rect">
            <a:avLst/>
          </a:prstGeom>
          <a:noFill/>
          <a:effectLst>
            <a:innerShdw blurRad="114300">
              <a:srgbClr val="FFFF00"/>
            </a:innerShdw>
          </a:effectLst>
        </p:spPr>
        <p:txBody>
          <a:bodyPr wrap="square" rtlCol="0">
            <a:spAutoFit/>
          </a:bodyPr>
          <a:lstStyle/>
          <a:p>
            <a:r>
              <a:rPr lang="en-IN" b="1"/>
              <a:t>Challenges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5A3368-E51E-3B54-DE5C-35E2327542A9}"/>
              </a:ext>
            </a:extLst>
          </p:cNvPr>
          <p:cNvSpPr txBox="1"/>
          <p:nvPr/>
        </p:nvSpPr>
        <p:spPr>
          <a:xfrm flipH="1">
            <a:off x="6828971" y="4945728"/>
            <a:ext cx="178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chemeClr val="bg1"/>
                </a:solidFill>
              </a:rPr>
              <a:t>Inconsistent </a:t>
            </a:r>
            <a:br>
              <a:rPr lang="en-IN" sz="1400" b="1">
                <a:solidFill>
                  <a:schemeClr val="bg1"/>
                </a:solidFill>
              </a:rPr>
            </a:br>
            <a:r>
              <a:rPr lang="en-IN" sz="1400" b="1">
                <a:solidFill>
                  <a:schemeClr val="bg1"/>
                </a:solidFill>
              </a:rPr>
              <a:t>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39218-FAC1-7289-EDDB-ECC8F9C11E21}"/>
              </a:ext>
            </a:extLst>
          </p:cNvPr>
          <p:cNvSpPr txBox="1"/>
          <p:nvPr/>
        </p:nvSpPr>
        <p:spPr>
          <a:xfrm flipH="1">
            <a:off x="8614228" y="4944501"/>
            <a:ext cx="178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chemeClr val="bg1"/>
                </a:solidFill>
              </a:rPr>
              <a:t>Limited</a:t>
            </a:r>
            <a:br>
              <a:rPr lang="en-IN" sz="1400" b="1">
                <a:solidFill>
                  <a:schemeClr val="bg1"/>
                </a:solidFill>
              </a:rPr>
            </a:br>
            <a:r>
              <a:rPr lang="en-IN" sz="1400" b="1">
                <a:solidFill>
                  <a:schemeClr val="bg1"/>
                </a:solidFill>
              </a:rPr>
              <a:t> Scalability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4F05FD-1D1E-D29F-6BE4-72A13661FC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474967"/>
            <a:ext cx="12192000" cy="1945654"/>
          </a:xfrm>
          <a:prstGeom prst="rect">
            <a:avLst/>
          </a:prstGeom>
        </p:spPr>
      </p:pic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D9F35970-62B6-D3B3-D49C-D24530B5FF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9413628"/>
              </p:ext>
            </p:extLst>
          </p:nvPr>
        </p:nvGraphicFramePr>
        <p:xfrm>
          <a:off x="212912" y="1902761"/>
          <a:ext cx="11788587" cy="3892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71934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5D366-5E18-43E6-D5B3-34D63581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181AA4C-CC77-30E8-71BF-031D34B91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24BDE63D-40E3-7F1E-F07A-43849C72F7EB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7735CD-E5F1-5643-9A67-633ECD6B3346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CC5261DB-A8F6-E180-5438-BCE53AB97213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FD6C4DD-D539-13E8-4DC9-ABD84B92F922}"/>
              </a:ext>
            </a:extLst>
          </p:cNvPr>
          <p:cNvSpPr txBox="1"/>
          <p:nvPr/>
        </p:nvSpPr>
        <p:spPr>
          <a:xfrm>
            <a:off x="370402" y="151573"/>
            <a:ext cx="107899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2400" b="1" dirty="0">
                <a:ea typeface="+mn-lt"/>
                <a:cs typeface="+mn-lt"/>
              </a:rPr>
              <a:t>The Vision: The Agentic Enterprise</a:t>
            </a:r>
          </a:p>
          <a:p>
            <a:endParaRPr lang="en-US"/>
          </a:p>
          <a:p>
            <a:endParaRPr lang="en-US"/>
          </a:p>
          <a:p>
            <a:pPr>
              <a:lnSpc>
                <a:spcPct val="102000"/>
              </a:lnSpc>
            </a:pPr>
            <a:endParaRPr lang="en-US" sz="2400" b="1" dirty="0"/>
          </a:p>
          <a:p>
            <a:pPr marL="0" indent="0">
              <a:lnSpc>
                <a:spcPct val="102000"/>
              </a:lnSpc>
              <a:buNone/>
            </a:pPr>
            <a:endParaRPr lang="en-US" sz="2700" b="1" dirty="0"/>
          </a:p>
        </p:txBody>
      </p:sp>
      <p:sp>
        <p:nvSpPr>
          <p:cNvPr id="81" name="Slide Number Placeholder 3">
            <a:extLst>
              <a:ext uri="{FF2B5EF4-FFF2-40B4-BE49-F238E27FC236}">
                <a16:creationId xmlns:a16="http://schemas.microsoft.com/office/drawing/2014/main" id="{0794CE90-5C29-BEE2-7846-57439B614037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3</a:t>
            </a:fld>
            <a:endParaRPr lang="en-US" sz="1000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7F2FA8-46A6-6006-ABA0-3DBEFBE79A5A}"/>
              </a:ext>
            </a:extLst>
          </p:cNvPr>
          <p:cNvSpPr txBox="1"/>
          <p:nvPr/>
        </p:nvSpPr>
        <p:spPr>
          <a:xfrm flipH="1">
            <a:off x="6828971" y="4945728"/>
            <a:ext cx="178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chemeClr val="bg1"/>
                </a:solidFill>
              </a:rPr>
              <a:t>Inconsistent </a:t>
            </a:r>
            <a:br>
              <a:rPr lang="en-IN" sz="1400" b="1">
                <a:solidFill>
                  <a:schemeClr val="bg1"/>
                </a:solidFill>
              </a:rPr>
            </a:br>
            <a:r>
              <a:rPr lang="en-IN" sz="1400" b="1">
                <a:solidFill>
                  <a:schemeClr val="bg1"/>
                </a:solidFill>
              </a:rPr>
              <a:t>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C552B-5830-1A70-B5F8-F3A8E70A1A0C}"/>
              </a:ext>
            </a:extLst>
          </p:cNvPr>
          <p:cNvSpPr txBox="1"/>
          <p:nvPr/>
        </p:nvSpPr>
        <p:spPr>
          <a:xfrm flipH="1">
            <a:off x="8614228" y="4944501"/>
            <a:ext cx="178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solidFill>
                  <a:schemeClr val="bg1"/>
                </a:solidFill>
              </a:rPr>
              <a:t>Limited</a:t>
            </a:r>
            <a:br>
              <a:rPr lang="en-IN" sz="1400" b="1">
                <a:solidFill>
                  <a:schemeClr val="bg1"/>
                </a:solidFill>
              </a:rPr>
            </a:br>
            <a:r>
              <a:rPr lang="en-IN" sz="1400" b="1">
                <a:solidFill>
                  <a:schemeClr val="bg1"/>
                </a:solidFill>
              </a:rPr>
              <a:t> Scalability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C938983-D314-7ACC-6BB3-5C06A9059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323589"/>
            <a:ext cx="7832943" cy="6534411"/>
          </a:xfrm>
          <a:prstGeom prst="rect">
            <a:avLst/>
          </a:prstGeom>
        </p:spPr>
      </p:pic>
      <p:sp>
        <p:nvSpPr>
          <p:cNvPr id="55" name="Text 2">
            <a:extLst>
              <a:ext uri="{FF2B5EF4-FFF2-40B4-BE49-F238E27FC236}">
                <a16:creationId xmlns:a16="http://schemas.microsoft.com/office/drawing/2014/main" id="{EFCDC871-9659-ADF6-6F7C-73179735EF03}"/>
              </a:ext>
            </a:extLst>
          </p:cNvPr>
          <p:cNvSpPr txBox="1"/>
          <p:nvPr/>
        </p:nvSpPr>
        <p:spPr>
          <a:xfrm>
            <a:off x="172074" y="1051051"/>
            <a:ext cx="5591617" cy="344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dirty="0">
                <a:solidFill>
                  <a:srgbClr val="0070C0"/>
                </a:solidFill>
                <a:ea typeface="+mn-lt"/>
                <a:cs typeface="+mn-lt"/>
              </a:rPr>
              <a:t>Humans manage exceptions. Agents perform routine work.</a:t>
            </a:r>
            <a:endParaRPr lang="en-US" dirty="0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87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EAE79-3E82-3FAD-3301-7080619C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13822EA-0AB4-5373-112E-36FC1BE22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F715C85A-A4DA-CDE2-79AD-2FD8A5D56FE8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79BEF960-A317-B2B2-DC84-A0934194860D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4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F82D4B-862D-CD6B-6828-F4094384D7FC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7AA16BB-6395-82EC-E647-B1413D25DF99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1159773-0948-0DF4-4EA6-ED876D353F5F}"/>
              </a:ext>
            </a:extLst>
          </p:cNvPr>
          <p:cNvSpPr txBox="1"/>
          <p:nvPr/>
        </p:nvSpPr>
        <p:spPr>
          <a:xfrm>
            <a:off x="367284" y="214884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spc="200">
                <a:solidFill>
                  <a:srgbClr val="E8A33D"/>
                </a:solidFill>
                <a:latin typeface="Calibri"/>
              </a:rPr>
              <a:t>DISCOVER → </a:t>
            </a:r>
            <a:r>
              <a:rPr lang="en-IN" sz="1200" b="1" i="0" spc="200">
                <a:solidFill>
                  <a:srgbClr val="E8A33D"/>
                </a:solidFill>
                <a:latin typeface="Calibri"/>
              </a:rPr>
              <a:t>DESIGN </a:t>
            </a:r>
            <a:r>
              <a:rPr lang="en-IN" sz="1200" b="1" spc="200">
                <a:solidFill>
                  <a:srgbClr val="E8A33D"/>
                </a:solidFill>
                <a:latin typeface="Calibri"/>
              </a:rPr>
              <a:t>&amp;</a:t>
            </a:r>
            <a:r>
              <a:rPr sz="1200" b="1" i="0" spc="200">
                <a:solidFill>
                  <a:srgbClr val="E8A33D"/>
                </a:solidFill>
                <a:latin typeface="Calibri"/>
              </a:rPr>
              <a:t> IMPLEMENT</a:t>
            </a:r>
            <a:r>
              <a:rPr lang="en-IN" sz="1200" b="1" i="0" spc="200">
                <a:solidFill>
                  <a:srgbClr val="E8A33D"/>
                </a:solidFill>
                <a:latin typeface="Calibri"/>
              </a:rPr>
              <a:t> → GOVERN → OPERATE</a:t>
            </a:r>
            <a:endParaRPr sz="1200" b="1" i="0" spc="200">
              <a:solidFill>
                <a:srgbClr val="E8A33D"/>
              </a:solidFill>
              <a:latin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D96FBB0B-DF5B-4FF5-7D1D-76EC50C61567}"/>
              </a:ext>
            </a:extLst>
          </p:cNvPr>
          <p:cNvSpPr txBox="1"/>
          <p:nvPr/>
        </p:nvSpPr>
        <p:spPr>
          <a:xfrm>
            <a:off x="330890" y="559449"/>
            <a:ext cx="110947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>
                <a:solidFill>
                  <a:srgbClr val="1A1A2E"/>
                </a:solidFill>
                <a:ea typeface="+mn-lt"/>
                <a:cs typeface="+mn-lt"/>
              </a:rPr>
              <a:t>What is the Legacy-to-Agent Transformation Factory?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749F1-CDE5-E430-D023-4AD5CB697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610" y="897699"/>
            <a:ext cx="8439411" cy="562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2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C4DB-D3B0-A83E-DFBD-383D0801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5071B2F-0F3B-3002-9A9F-00CD4AA8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064DB145-4F8B-D3B1-BB9C-737EBCF16CA5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9B78932D-6F0F-D617-7237-E3438D77771C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5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5BC60A-4377-AC9A-CFB1-1A004256AB87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B7C3E36-01BB-18B0-281B-197F26ECD071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5CF73FD-6B8A-065E-9090-3E6499F47B21}"/>
              </a:ext>
            </a:extLst>
          </p:cNvPr>
          <p:cNvSpPr txBox="1"/>
          <p:nvPr/>
        </p:nvSpPr>
        <p:spPr>
          <a:xfrm>
            <a:off x="367284" y="214884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spc="200">
                <a:solidFill>
                  <a:srgbClr val="E8A33D"/>
                </a:solidFill>
                <a:latin typeface="Calibri"/>
              </a:rPr>
              <a:t>DISCOVER → </a:t>
            </a:r>
            <a:r>
              <a:rPr lang="en-IN" sz="1200" b="1" i="0" spc="200">
                <a:solidFill>
                  <a:srgbClr val="E8A33D"/>
                </a:solidFill>
                <a:latin typeface="Calibri"/>
              </a:rPr>
              <a:t>DESIGN </a:t>
            </a:r>
            <a:r>
              <a:rPr lang="en-IN" sz="1200" b="1" spc="200">
                <a:solidFill>
                  <a:srgbClr val="E8A33D"/>
                </a:solidFill>
                <a:latin typeface="Calibri"/>
              </a:rPr>
              <a:t>&amp;</a:t>
            </a:r>
            <a:r>
              <a:rPr sz="1200" b="1" i="0" spc="200">
                <a:solidFill>
                  <a:srgbClr val="E8A33D"/>
                </a:solidFill>
                <a:latin typeface="Calibri"/>
              </a:rPr>
              <a:t> IMPLEMENT</a:t>
            </a:r>
            <a:r>
              <a:rPr lang="en-IN" sz="1200" b="1" i="0" spc="200">
                <a:solidFill>
                  <a:srgbClr val="E8A33D"/>
                </a:solidFill>
                <a:latin typeface="Calibri"/>
              </a:rPr>
              <a:t> → GOVERN → OPERATE</a:t>
            </a:r>
            <a:endParaRPr sz="1200" b="1" i="0" spc="200">
              <a:solidFill>
                <a:srgbClr val="E8A33D"/>
              </a:solidFill>
              <a:latin typeface="Calibri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FCCF662-6D2A-0CE2-DBFF-F19E8E2F7C76}"/>
              </a:ext>
            </a:extLst>
          </p:cNvPr>
          <p:cNvSpPr txBox="1"/>
          <p:nvPr/>
        </p:nvSpPr>
        <p:spPr>
          <a:xfrm>
            <a:off x="367284" y="470916"/>
            <a:ext cx="1109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A1A2E"/>
                </a:solidFill>
                <a:latin typeface="Cambria"/>
              </a:rPr>
              <a:t>Agentic Transformation Lifecycle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86C91-14E0-8800-1453-A822E687C268}"/>
              </a:ext>
            </a:extLst>
          </p:cNvPr>
          <p:cNvSpPr txBox="1"/>
          <p:nvPr/>
        </p:nvSpPr>
        <p:spPr>
          <a:xfrm>
            <a:off x="2482262" y="5532267"/>
            <a:ext cx="805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/>
              <a:t>Transform legacy applications through an agent-powered modernization factory.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2DA65-8228-3CDC-D156-A098A187036C}"/>
              </a:ext>
            </a:extLst>
          </p:cNvPr>
          <p:cNvSpPr txBox="1"/>
          <p:nvPr/>
        </p:nvSpPr>
        <p:spPr>
          <a:xfrm>
            <a:off x="265055" y="956401"/>
            <a:ext cx="721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>
                <a:solidFill>
                  <a:schemeClr val="accent1">
                    <a:lumMod val="60000"/>
                    <a:lumOff val="40000"/>
                  </a:schemeClr>
                </a:solidFill>
              </a:rPr>
              <a:t>Service Offering - Legacy-to-Agent Modernization as a Service (</a:t>
            </a:r>
            <a:r>
              <a:rPr lang="en-IN" i="1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LAMaaS</a:t>
            </a:r>
            <a:r>
              <a:rPr lang="en-IN" i="1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469DF-2254-5DEB-AF65-36FF7281B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83312"/>
            <a:ext cx="12192000" cy="329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0E674-583D-8BFF-6C08-3344DDDE3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83363C7-A107-CF0B-3FB2-51FA5A6CE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FA25FA85-78A3-4DCE-CAC1-422DC4013610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47E7EED1-606C-A4CA-1611-E2404F7BD01A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6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5766D4-E81E-D6F0-1169-BB25A44972BD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F2A5777-C905-3F40-B81C-D1194B1CA1C1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C2E9F50-9382-7BDB-2397-D96CFA1786FD}"/>
              </a:ext>
            </a:extLst>
          </p:cNvPr>
          <p:cNvSpPr txBox="1"/>
          <p:nvPr/>
        </p:nvSpPr>
        <p:spPr>
          <a:xfrm>
            <a:off x="367284" y="57607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endParaRPr lang="en-US" sz="3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BB15E-20FF-1B2F-74FD-71BBA595E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08" y="942707"/>
            <a:ext cx="11479163" cy="50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1C737-9250-1606-7978-94636D01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4FE056D-39B6-8B7A-C70D-C49148260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47CB9CB7-17F6-C26F-511E-4A23E81BEEBB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4A5EB8C7-6C3C-49A5-60B7-5DE6C3C7B645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7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F72FF7-7E28-F822-6ACA-2806DAAE446F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6BAB2C4-327B-E7C6-50FE-E9ED74E2E3BF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8410C7D-5DDD-8B7F-053F-0799DBB73629}"/>
              </a:ext>
            </a:extLst>
          </p:cNvPr>
          <p:cNvSpPr txBox="1"/>
          <p:nvPr/>
        </p:nvSpPr>
        <p:spPr>
          <a:xfrm>
            <a:off x="367284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8AC847-6E5F-1156-F395-7C93558FC769}"/>
              </a:ext>
            </a:extLst>
          </p:cNvPr>
          <p:cNvSpPr txBox="1"/>
          <p:nvPr/>
        </p:nvSpPr>
        <p:spPr>
          <a:xfrm>
            <a:off x="367284" y="57607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Agents Run the Process</a:t>
            </a:r>
            <a:endParaRPr lang="en-US" sz="300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03B127C3-E6E0-EEE4-334E-2CD3091F1CF3}"/>
              </a:ext>
            </a:extLst>
          </p:cNvPr>
          <p:cNvSpPr/>
          <p:nvPr/>
        </p:nvSpPr>
        <p:spPr>
          <a:xfrm>
            <a:off x="367284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71EAAB24-D8AD-98A4-DF1C-74123BCCF2C5}"/>
              </a:ext>
            </a:extLst>
          </p:cNvPr>
          <p:cNvSpPr txBox="1"/>
          <p:nvPr/>
        </p:nvSpPr>
        <p:spPr>
          <a:xfrm>
            <a:off x="687324" y="4389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Compliance 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reduced operational risk through built-in auditability.   </a:t>
            </a:r>
            <a:r>
              <a:rPr lang="en-US" sz="140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Scalability 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24x7 digital workforce that never queues.</a:t>
            </a:r>
            <a:endParaRPr lang="en-US" sz="140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CE73A030-9895-3BD4-07F7-0FA401D5C043}"/>
              </a:ext>
            </a:extLst>
          </p:cNvPr>
          <p:cNvSpPr txBox="1"/>
          <p:nvPr/>
        </p:nvSpPr>
        <p:spPr>
          <a:xfrm>
            <a:off x="3230226" y="56000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reflect impact at maturity, phased across the 3-year Land → Prove → Scale roadmap.</a:t>
            </a:r>
            <a:endParaRPr lang="en-US" sz="11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EB99C-C347-1A9D-01B3-75F9F4FAB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529" y="1687738"/>
            <a:ext cx="8411749" cy="2200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6E8CD-A31D-E77A-F5EF-67397496877D}"/>
              </a:ext>
            </a:extLst>
          </p:cNvPr>
          <p:cNvSpPr txBox="1"/>
          <p:nvPr/>
        </p:nvSpPr>
        <p:spPr>
          <a:xfrm>
            <a:off x="367284" y="1122926"/>
            <a:ext cx="517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Agentic execution creates measurable value across the business</a:t>
            </a:r>
          </a:p>
        </p:txBody>
      </p:sp>
    </p:spTree>
    <p:extLst>
      <p:ext uri="{BB962C8B-B14F-4D97-AF65-F5344CB8AC3E}">
        <p14:creationId xmlns:p14="http://schemas.microsoft.com/office/powerpoint/2010/main" val="277589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411C2-E955-6636-5BCF-FB9980915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6F6352E-7B2E-92FE-9FC5-0C1F08E52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998E3087-6D12-D3AF-03D5-E633B9EEB802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5CE2F090-E790-2C66-D63E-C07346EE3B70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8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CFBB91-CA2C-1110-C5C1-EEFB8FEFD0E1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E6AC2FF-4822-8DF1-846E-648AA369369E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83561ED-BC19-4E03-60C2-9F93241BC728}"/>
              </a:ext>
            </a:extLst>
          </p:cNvPr>
          <p:cNvSpPr/>
          <p:nvPr/>
        </p:nvSpPr>
        <p:spPr>
          <a:xfrm>
            <a:off x="10850880" y="5696525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E46A241-9734-39FC-E05E-F15DC235CD0C}"/>
              </a:ext>
            </a:extLst>
          </p:cNvPr>
          <p:cNvSpPr txBox="1"/>
          <p:nvPr/>
        </p:nvSpPr>
        <p:spPr>
          <a:xfrm>
            <a:off x="367284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2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9877D47-B588-30CD-36A1-60CAAA4F503A}"/>
              </a:ext>
            </a:extLst>
          </p:cNvPr>
          <p:cNvSpPr txBox="1"/>
          <p:nvPr/>
        </p:nvSpPr>
        <p:spPr>
          <a:xfrm>
            <a:off x="367284" y="5760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28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</a:rPr>
              <a:t>Representative</a:t>
            </a:r>
            <a:r>
              <a:rPr lang="en-US" sz="30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</a:rPr>
              <a:t> Agent Opportunities</a:t>
            </a:r>
            <a:endParaRPr lang="en-US" sz="30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0FB065B-CE6B-38DB-60D4-F397DB129053}"/>
              </a:ext>
            </a:extLst>
          </p:cNvPr>
          <p:cNvSpPr txBox="1"/>
          <p:nvPr/>
        </p:nvSpPr>
        <p:spPr>
          <a:xfrm>
            <a:off x="4390644" y="21762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600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DD074C07-6FA4-4B66-314B-6C8643790768}"/>
              </a:ext>
            </a:extLst>
          </p:cNvPr>
          <p:cNvSpPr/>
          <p:nvPr/>
        </p:nvSpPr>
        <p:spPr>
          <a:xfrm>
            <a:off x="11276076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A317C-CA84-CC80-9FB6-FF7E3BCC6E61}"/>
              </a:ext>
            </a:extLst>
          </p:cNvPr>
          <p:cNvSpPr txBox="1"/>
          <p:nvPr/>
        </p:nvSpPr>
        <p:spPr>
          <a:xfrm>
            <a:off x="367284" y="1119857"/>
            <a:ext cx="760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/>
              <a:t>Business processes where agentic execution can create measurable value.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0BAD03-1165-BBF8-D54A-32CEDE1BB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203" y="1626061"/>
            <a:ext cx="9489562" cy="436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51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C0DC3-42C2-0093-7A57-E2267F82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4DC7A9B-6BE2-BDEC-9359-ED47D3C84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37DA7C77-F2A9-279A-0DA2-7235D3957D01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C1906991-4FA4-427C-C484-2A86DEFEF07F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9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C9CC04-AB14-E244-A9A3-6B2F59AF63BC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BA85AA77-5192-6C40-CC2E-A45F5A2C135B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EBF530B-5ADE-991D-2ACA-32B3C8B1CA25}"/>
              </a:ext>
            </a:extLst>
          </p:cNvPr>
          <p:cNvSpPr txBox="1"/>
          <p:nvPr/>
        </p:nvSpPr>
        <p:spPr>
          <a:xfrm>
            <a:off x="822960" y="51663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 3-YEAR COMMERCIAL TARGET</a:t>
            </a:r>
            <a:endParaRPr lang="en-US" sz="1050"/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4F4E3BA4-3857-EB9C-222A-FFD3D84D2653}"/>
              </a:ext>
            </a:extLst>
          </p:cNvPr>
          <p:cNvSpPr txBox="1"/>
          <p:nvPr/>
        </p:nvSpPr>
        <p:spPr>
          <a:xfrm>
            <a:off x="367284" y="19659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1" i="0" spc="200">
                <a:solidFill>
                  <a:srgbClr val="E8A33D"/>
                </a:solidFill>
                <a:latin typeface="Calibri"/>
              </a:rPr>
              <a:t>MARKET OPPORTUNITY · HORIZONTAL PLAY</a:t>
            </a:r>
          </a:p>
        </p:txBody>
      </p:sp>
      <p:sp>
        <p:nvSpPr>
          <p:cNvPr id="75" name="TextBox 2">
            <a:extLst>
              <a:ext uri="{FF2B5EF4-FFF2-40B4-BE49-F238E27FC236}">
                <a16:creationId xmlns:a16="http://schemas.microsoft.com/office/drawing/2014/main" id="{2E2C81F2-6BA8-DFF7-C395-7A4C7D4F18E4}"/>
              </a:ext>
            </a:extLst>
          </p:cNvPr>
          <p:cNvSpPr txBox="1"/>
          <p:nvPr/>
        </p:nvSpPr>
        <p:spPr>
          <a:xfrm>
            <a:off x="367284" y="434340"/>
            <a:ext cx="11094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A1A2E"/>
                </a:solidFill>
                <a:latin typeface="Cambria"/>
              </a:rPr>
              <a:t>Sizing the Legacy-to-Agent Opportunity</a:t>
            </a:r>
          </a:p>
        </p:txBody>
      </p:sp>
      <p:sp>
        <p:nvSpPr>
          <p:cNvPr id="76" name="TextBox 3">
            <a:extLst>
              <a:ext uri="{FF2B5EF4-FFF2-40B4-BE49-F238E27FC236}">
                <a16:creationId xmlns:a16="http://schemas.microsoft.com/office/drawing/2014/main" id="{64D5B5F1-73B5-C0DE-9F2D-079AA623E28D}"/>
              </a:ext>
            </a:extLst>
          </p:cNvPr>
          <p:cNvSpPr txBox="1"/>
          <p:nvPr/>
        </p:nvSpPr>
        <p:spPr>
          <a:xfrm>
            <a:off x="367284" y="891540"/>
            <a:ext cx="11094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lang="en-US" sz="1100" b="0" i="1">
                <a:solidFill>
                  <a:srgbClr val="6B7280"/>
                </a:solidFill>
                <a:latin typeface="Calibri"/>
              </a:rPr>
              <a:t>Any enterprise with high-volume, repeatable, human-run processes is addressable — not just BFSI.</a:t>
            </a:r>
            <a:endParaRPr lang="en-US" sz="1100" b="0" i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TextBox 4">
            <a:extLst>
              <a:ext uri="{FF2B5EF4-FFF2-40B4-BE49-F238E27FC236}">
                <a16:creationId xmlns:a16="http://schemas.microsoft.com/office/drawing/2014/main" id="{A99FC6A1-EE61-245D-EF66-728E256F3CAF}"/>
              </a:ext>
            </a:extLst>
          </p:cNvPr>
          <p:cNvSpPr txBox="1"/>
          <p:nvPr/>
        </p:nvSpPr>
        <p:spPr>
          <a:xfrm>
            <a:off x="367284" y="1293876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50" b="1" i="0" spc="100">
                <a:solidFill>
                  <a:srgbClr val="1E2761"/>
                </a:solidFill>
                <a:latin typeface="Calibri"/>
              </a:rPr>
              <a:t>TAM → SAM → SOM</a:t>
            </a:r>
          </a:p>
        </p:txBody>
      </p:sp>
      <p:sp>
        <p:nvSpPr>
          <p:cNvPr id="78" name="Freeform 5">
            <a:extLst>
              <a:ext uri="{FF2B5EF4-FFF2-40B4-BE49-F238E27FC236}">
                <a16:creationId xmlns:a16="http://schemas.microsoft.com/office/drawing/2014/main" id="{E8E8305B-FBC9-6D1B-F201-B497CAB51595}"/>
              </a:ext>
            </a:extLst>
          </p:cNvPr>
          <p:cNvSpPr/>
          <p:nvPr/>
        </p:nvSpPr>
        <p:spPr>
          <a:xfrm>
            <a:off x="367284" y="1604772"/>
            <a:ext cx="3383280" cy="731520"/>
          </a:xfrm>
          <a:custGeom>
            <a:avLst/>
            <a:gdLst/>
            <a:ahLst/>
            <a:cxnLst/>
            <a:rect l="l" t="t" r="r" b="b"/>
            <a:pathLst>
              <a:path w="3383280" h="731520">
                <a:moveTo>
                  <a:pt x="0" y="0"/>
                </a:moveTo>
                <a:lnTo>
                  <a:pt x="3383280" y="0"/>
                </a:lnTo>
                <a:lnTo>
                  <a:pt x="2857500" y="731520"/>
                </a:lnTo>
                <a:lnTo>
                  <a:pt x="525780" y="731520"/>
                </a:lnTo>
                <a:lnTo>
                  <a:pt x="0" y="0"/>
                </a:lnTo>
                <a:close/>
              </a:path>
            </a:pathLst>
          </a:custGeom>
          <a:solidFill>
            <a:srgbClr val="CADCF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9" name="TextBox 6">
            <a:extLst>
              <a:ext uri="{FF2B5EF4-FFF2-40B4-BE49-F238E27FC236}">
                <a16:creationId xmlns:a16="http://schemas.microsoft.com/office/drawing/2014/main" id="{5F171166-BFCD-1572-C393-F59DCC59F786}"/>
              </a:ext>
            </a:extLst>
          </p:cNvPr>
          <p:cNvSpPr txBox="1"/>
          <p:nvPr/>
        </p:nvSpPr>
        <p:spPr>
          <a:xfrm>
            <a:off x="367284" y="1604772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TAM  </a:t>
            </a:r>
            <a:r>
              <a:rPr sz="1300" b="1" i="0">
                <a:solidFill>
                  <a:srgbClr val="1E2761"/>
                </a:solidFill>
                <a:latin typeface="Calibri"/>
              </a:rPr>
              <a:t>$7.6B–$11.6B</a:t>
            </a:r>
          </a:p>
        </p:txBody>
      </p:sp>
      <p:sp>
        <p:nvSpPr>
          <p:cNvPr id="80" name="TextBox 7">
            <a:extLst>
              <a:ext uri="{FF2B5EF4-FFF2-40B4-BE49-F238E27FC236}">
                <a16:creationId xmlns:a16="http://schemas.microsoft.com/office/drawing/2014/main" id="{77BEAB9A-C272-4BB6-FE65-B79425C5E106}"/>
              </a:ext>
            </a:extLst>
          </p:cNvPr>
          <p:cNvSpPr txBox="1"/>
          <p:nvPr/>
        </p:nvSpPr>
        <p:spPr>
          <a:xfrm>
            <a:off x="4006596" y="1812219"/>
            <a:ext cx="1435607" cy="316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000" b="0" i="0">
                <a:solidFill>
                  <a:srgbClr val="6B7280"/>
                </a:solidFill>
                <a:latin typeface="Calibri"/>
              </a:rPr>
              <a:t>Global AI Agents / Agentic AI market (2025)</a:t>
            </a:r>
            <a:endParaRPr lang="en-US" sz="1000" b="0" i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Freeform 8">
            <a:extLst>
              <a:ext uri="{FF2B5EF4-FFF2-40B4-BE49-F238E27FC236}">
                <a16:creationId xmlns:a16="http://schemas.microsoft.com/office/drawing/2014/main" id="{A5C0D8D9-4F44-CB1E-F916-1A15F49FDCDE}"/>
              </a:ext>
            </a:extLst>
          </p:cNvPr>
          <p:cNvSpPr/>
          <p:nvPr/>
        </p:nvSpPr>
        <p:spPr>
          <a:xfrm>
            <a:off x="893064" y="2336292"/>
            <a:ext cx="2331720" cy="731520"/>
          </a:xfrm>
          <a:custGeom>
            <a:avLst/>
            <a:gdLst/>
            <a:ahLst/>
            <a:cxnLst/>
            <a:rect l="l" t="t" r="r" b="b"/>
            <a:pathLst>
              <a:path w="2331720" h="731520">
                <a:moveTo>
                  <a:pt x="0" y="0"/>
                </a:moveTo>
                <a:lnTo>
                  <a:pt x="2331720" y="0"/>
                </a:lnTo>
                <a:lnTo>
                  <a:pt x="1828800" y="731520"/>
                </a:lnTo>
                <a:lnTo>
                  <a:pt x="502920" y="731520"/>
                </a:lnTo>
                <a:lnTo>
                  <a:pt x="0" y="0"/>
                </a:lnTo>
                <a:close/>
              </a:path>
            </a:pathLst>
          </a:custGeom>
          <a:solidFill>
            <a:srgbClr val="9FB8E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2" name="TextBox 9">
            <a:extLst>
              <a:ext uri="{FF2B5EF4-FFF2-40B4-BE49-F238E27FC236}">
                <a16:creationId xmlns:a16="http://schemas.microsoft.com/office/drawing/2014/main" id="{64D4B89A-C1C2-2EE6-A8D4-B4FEC8E86244}"/>
              </a:ext>
            </a:extLst>
          </p:cNvPr>
          <p:cNvSpPr txBox="1"/>
          <p:nvPr/>
        </p:nvSpPr>
        <p:spPr>
          <a:xfrm>
            <a:off x="893064" y="2336292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SAM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≈$2.4B</a:t>
            </a:r>
          </a:p>
        </p:txBody>
      </p:sp>
      <p:sp>
        <p:nvSpPr>
          <p:cNvPr id="83" name="TextBox 10">
            <a:extLst>
              <a:ext uri="{FF2B5EF4-FFF2-40B4-BE49-F238E27FC236}">
                <a16:creationId xmlns:a16="http://schemas.microsoft.com/office/drawing/2014/main" id="{4909FBA2-3FCC-26B8-B661-B96072205DC7}"/>
              </a:ext>
            </a:extLst>
          </p:cNvPr>
          <p:cNvSpPr txBox="1"/>
          <p:nvPr/>
        </p:nvSpPr>
        <p:spPr>
          <a:xfrm>
            <a:off x="4006596" y="2462948"/>
            <a:ext cx="1435607" cy="478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000" b="0" i="0" err="1">
                <a:solidFill>
                  <a:srgbClr val="6B7280"/>
                </a:solidFill>
                <a:latin typeface="Calibri"/>
              </a:rPr>
              <a:t>Zuci</a:t>
            </a:r>
            <a:r>
              <a:rPr lang="en-US" sz="1000" b="0" i="0">
                <a:solidFill>
                  <a:srgbClr val="6B7280"/>
                </a:solidFill>
                <a:latin typeface="Calibri"/>
              </a:rPr>
              <a:t>-addressable: BFSI, Insurance, Healthcare + expansion verticals</a:t>
            </a:r>
            <a:endParaRPr lang="en-US" sz="1000" b="0" i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Freeform 11">
            <a:extLst>
              <a:ext uri="{FF2B5EF4-FFF2-40B4-BE49-F238E27FC236}">
                <a16:creationId xmlns:a16="http://schemas.microsoft.com/office/drawing/2014/main" id="{3278FCB2-AD7D-C641-B8D9-1971F08D7065}"/>
              </a:ext>
            </a:extLst>
          </p:cNvPr>
          <p:cNvSpPr/>
          <p:nvPr/>
        </p:nvSpPr>
        <p:spPr>
          <a:xfrm>
            <a:off x="1395984" y="3067812"/>
            <a:ext cx="1325880" cy="731520"/>
          </a:xfrm>
          <a:custGeom>
            <a:avLst/>
            <a:gdLst/>
            <a:ahLst/>
            <a:cxnLst/>
            <a:rect l="l" t="t" r="r" b="b"/>
            <a:pathLst>
              <a:path w="1325880" h="731520">
                <a:moveTo>
                  <a:pt x="0" y="0"/>
                </a:moveTo>
                <a:lnTo>
                  <a:pt x="1325880" y="0"/>
                </a:lnTo>
                <a:lnTo>
                  <a:pt x="914400" y="731520"/>
                </a:lnTo>
                <a:lnTo>
                  <a:pt x="411480" y="731520"/>
                </a:lnTo>
                <a:lnTo>
                  <a:pt x="0" y="0"/>
                </a:lnTo>
                <a:close/>
              </a:path>
            </a:pathLst>
          </a:cu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5" name="TextBox 12">
            <a:extLst>
              <a:ext uri="{FF2B5EF4-FFF2-40B4-BE49-F238E27FC236}">
                <a16:creationId xmlns:a16="http://schemas.microsoft.com/office/drawing/2014/main" id="{B479901E-ADD5-D181-82E8-86C1EEAB96F1}"/>
              </a:ext>
            </a:extLst>
          </p:cNvPr>
          <p:cNvSpPr txBox="1"/>
          <p:nvPr/>
        </p:nvSpPr>
        <p:spPr>
          <a:xfrm>
            <a:off x="1395984" y="3067812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SOM  </a:t>
            </a:r>
            <a:r>
              <a:rPr sz="1300" b="1" i="0">
                <a:solidFill>
                  <a:srgbClr val="1E2761"/>
                </a:solidFill>
                <a:latin typeface="Calibri"/>
              </a:rPr>
              <a:t>$15–20M</a:t>
            </a:r>
          </a:p>
        </p:txBody>
      </p:sp>
      <p:sp>
        <p:nvSpPr>
          <p:cNvPr id="86" name="TextBox 13">
            <a:extLst>
              <a:ext uri="{FF2B5EF4-FFF2-40B4-BE49-F238E27FC236}">
                <a16:creationId xmlns:a16="http://schemas.microsoft.com/office/drawing/2014/main" id="{27DEC7FD-E5FA-B052-6FFB-BC6B76DFEC2B}"/>
              </a:ext>
            </a:extLst>
          </p:cNvPr>
          <p:cNvSpPr txBox="1"/>
          <p:nvPr/>
        </p:nvSpPr>
        <p:spPr>
          <a:xfrm>
            <a:off x="4006596" y="3275260"/>
            <a:ext cx="1435607" cy="316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Zuci's realistic 3-year capture (existing target)</a:t>
            </a:r>
            <a:endParaRPr lang="en-US" sz="1000" b="0" i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TextBox 14">
            <a:extLst>
              <a:ext uri="{FF2B5EF4-FFF2-40B4-BE49-F238E27FC236}">
                <a16:creationId xmlns:a16="http://schemas.microsoft.com/office/drawing/2014/main" id="{96717362-FA2A-0ED8-91C0-EE1BEDAA9AA0}"/>
              </a:ext>
            </a:extLst>
          </p:cNvPr>
          <p:cNvSpPr txBox="1"/>
          <p:nvPr/>
        </p:nvSpPr>
        <p:spPr>
          <a:xfrm>
            <a:off x="367284" y="3927347"/>
            <a:ext cx="5074920" cy="343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Sources: Grand View Research ($7.6B); </a:t>
            </a:r>
            <a:r>
              <a:rPr sz="1000" b="0" i="1" err="1">
                <a:solidFill>
                  <a:srgbClr val="6B7280"/>
                </a:solidFill>
                <a:latin typeface="Calibri"/>
              </a:rPr>
              <a:t>MarketsandMarkets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($11.6B); Precedence Research ($7.9B) — 2025 estimates. SAM/SOM are </a:t>
            </a:r>
            <a:r>
              <a:rPr sz="1000" b="0" i="1" err="1">
                <a:solidFill>
                  <a:srgbClr val="6B7280"/>
                </a:solidFill>
                <a:latin typeface="Calibri"/>
              </a:rPr>
              <a:t>Zuci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estimates, not independently published data.</a:t>
            </a:r>
            <a:endParaRPr lang="en-US" sz="1000" b="0" i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TextBox 15">
            <a:extLst>
              <a:ext uri="{FF2B5EF4-FFF2-40B4-BE49-F238E27FC236}">
                <a16:creationId xmlns:a16="http://schemas.microsoft.com/office/drawing/2014/main" id="{BCB5DF0A-649F-BF28-57C6-5D8781DF31B9}"/>
              </a:ext>
            </a:extLst>
          </p:cNvPr>
          <p:cNvSpPr txBox="1"/>
          <p:nvPr/>
        </p:nvSpPr>
        <p:spPr>
          <a:xfrm>
            <a:off x="5716523" y="1293876"/>
            <a:ext cx="5745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50" b="1" i="0" spc="100">
                <a:solidFill>
                  <a:srgbClr val="1E2761"/>
                </a:solidFill>
                <a:latin typeface="Calibri"/>
              </a:rPr>
              <a:t>WHERE ZUCI ALREADY FOCUSES</a:t>
            </a:r>
          </a:p>
        </p:txBody>
      </p:sp>
      <p:sp>
        <p:nvSpPr>
          <p:cNvPr id="89" name="TextBox 16">
            <a:extLst>
              <a:ext uri="{FF2B5EF4-FFF2-40B4-BE49-F238E27FC236}">
                <a16:creationId xmlns:a16="http://schemas.microsoft.com/office/drawing/2014/main" id="{ADFF7B54-0321-65CC-EE99-5D81C950A1B8}"/>
              </a:ext>
            </a:extLst>
          </p:cNvPr>
          <p:cNvSpPr txBox="1"/>
          <p:nvPr/>
        </p:nvSpPr>
        <p:spPr>
          <a:xfrm>
            <a:off x="5716523" y="1531620"/>
            <a:ext cx="5745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$2.4B SAM by target industry — market availability &amp; earn potential</a:t>
            </a:r>
            <a:endParaRPr lang="en-US" sz="1000" b="0" i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0" name="Chart 89">
            <a:extLst>
              <a:ext uri="{FF2B5EF4-FFF2-40B4-BE49-F238E27FC236}">
                <a16:creationId xmlns:a16="http://schemas.microsoft.com/office/drawing/2014/main" id="{9613A532-D0B9-9516-E1E2-8CDCEF73E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43381"/>
              </p:ext>
            </p:extLst>
          </p:nvPr>
        </p:nvGraphicFramePr>
        <p:xfrm>
          <a:off x="5716523" y="1787652"/>
          <a:ext cx="5745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1" name="TextBox 18">
            <a:extLst>
              <a:ext uri="{FF2B5EF4-FFF2-40B4-BE49-F238E27FC236}">
                <a16:creationId xmlns:a16="http://schemas.microsoft.com/office/drawing/2014/main" id="{C5C3C2D6-C9F2-EF34-B4FB-81244AED68B0}"/>
              </a:ext>
            </a:extLst>
          </p:cNvPr>
          <p:cNvSpPr txBox="1"/>
          <p:nvPr/>
        </p:nvSpPr>
        <p:spPr>
          <a:xfrm>
            <a:off x="5716523" y="4137660"/>
            <a:ext cx="5745480" cy="330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Illustrative allocation of the $2.4B SAM across Zuci’s current accounts and horizontal expansion verticals — </a:t>
            </a:r>
            <a:r>
              <a:rPr sz="1000" b="0" i="1" err="1">
                <a:solidFill>
                  <a:srgbClr val="6B7280"/>
                </a:solidFill>
                <a:latin typeface="Calibri"/>
              </a:rPr>
              <a:t>Zuci</a:t>
            </a:r>
            <a:r>
              <a:rPr sz="1000" b="0" i="1">
                <a:solidFill>
                  <a:srgbClr val="6B7280"/>
                </a:solidFill>
                <a:latin typeface="Calibri"/>
              </a:rPr>
              <a:t> estimate, not independently published data.</a:t>
            </a:r>
            <a:endParaRPr lang="en-US" sz="1000" b="0" i="1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Rounded Rectangle 19">
            <a:extLst>
              <a:ext uri="{FF2B5EF4-FFF2-40B4-BE49-F238E27FC236}">
                <a16:creationId xmlns:a16="http://schemas.microsoft.com/office/drawing/2014/main" id="{8773BCC2-7F99-958F-00C1-AE2EA841535C}"/>
              </a:ext>
            </a:extLst>
          </p:cNvPr>
          <p:cNvSpPr/>
          <p:nvPr/>
        </p:nvSpPr>
        <p:spPr>
          <a:xfrm>
            <a:off x="182929" y="4662014"/>
            <a:ext cx="3564128" cy="1417320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3" name="TextBox 20">
            <a:extLst>
              <a:ext uri="{FF2B5EF4-FFF2-40B4-BE49-F238E27FC236}">
                <a16:creationId xmlns:a16="http://schemas.microsoft.com/office/drawing/2014/main" id="{823F53DD-F364-23AE-1EE7-0427ED2DDE71}"/>
              </a:ext>
            </a:extLst>
          </p:cNvPr>
          <p:cNvSpPr txBox="1"/>
          <p:nvPr/>
        </p:nvSpPr>
        <p:spPr>
          <a:xfrm>
            <a:off x="550164" y="4777740"/>
            <a:ext cx="31983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050" b="1" i="0" spc="100">
                <a:solidFill>
                  <a:srgbClr val="E8A33D"/>
                </a:solidFill>
                <a:latin typeface="Calibri"/>
              </a:rPr>
              <a:t>W</a:t>
            </a:r>
            <a:r>
              <a:rPr sz="1100" b="1" i="0" spc="100">
                <a:solidFill>
                  <a:srgbClr val="E8A33D"/>
                </a:solidFill>
                <a:latin typeface="Calibri"/>
              </a:rPr>
              <a:t>HO IS THE BUYER</a:t>
            </a:r>
          </a:p>
        </p:txBody>
      </p:sp>
      <p:sp>
        <p:nvSpPr>
          <p:cNvPr id="94" name="TextBox 21">
            <a:extLst>
              <a:ext uri="{FF2B5EF4-FFF2-40B4-BE49-F238E27FC236}">
                <a16:creationId xmlns:a16="http://schemas.microsoft.com/office/drawing/2014/main" id="{36DDB697-262C-048B-F448-0A56998B8923}"/>
              </a:ext>
            </a:extLst>
          </p:cNvPr>
          <p:cNvSpPr txBox="1"/>
          <p:nvPr/>
        </p:nvSpPr>
        <p:spPr>
          <a:xfrm>
            <a:off x="550164" y="5033772"/>
            <a:ext cx="3198368" cy="352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1A1A2E"/>
                </a:solidFill>
                <a:latin typeface="Calibri"/>
              </a:rPr>
              <a:t>CIO · COO · Chief Digital Officer · Head of Operations · Business Unit Leaders</a:t>
            </a:r>
            <a:endParaRPr lang="en-US" sz="1050" b="0" i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Rounded Rectangle 22">
            <a:extLst>
              <a:ext uri="{FF2B5EF4-FFF2-40B4-BE49-F238E27FC236}">
                <a16:creationId xmlns:a16="http://schemas.microsoft.com/office/drawing/2014/main" id="{2D67F52F-525B-D5E3-2B59-F8394BC95E20}"/>
              </a:ext>
            </a:extLst>
          </p:cNvPr>
          <p:cNvSpPr/>
          <p:nvPr/>
        </p:nvSpPr>
        <p:spPr>
          <a:xfrm>
            <a:off x="4132580" y="4649724"/>
            <a:ext cx="3564128" cy="1417320"/>
          </a:xfrm>
          <a:prstGeom prst="roundRect">
            <a:avLst>
              <a:gd name="adj" fmla="val 6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6" name="TextBox 23">
            <a:extLst>
              <a:ext uri="{FF2B5EF4-FFF2-40B4-BE49-F238E27FC236}">
                <a16:creationId xmlns:a16="http://schemas.microsoft.com/office/drawing/2014/main" id="{3390B913-1CAB-D83E-C4CF-1F89263D320B}"/>
              </a:ext>
            </a:extLst>
          </p:cNvPr>
          <p:cNvSpPr txBox="1"/>
          <p:nvPr/>
        </p:nvSpPr>
        <p:spPr>
          <a:xfrm>
            <a:off x="4315460" y="4777740"/>
            <a:ext cx="31983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E8A33D"/>
                </a:solidFill>
                <a:latin typeface="Calibri"/>
              </a:rPr>
              <a:t>TARGET INDUSTRIES</a:t>
            </a:r>
            <a:endParaRPr lang="en-US" sz="1100" b="1" i="0" spc="10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TextBox 24">
            <a:extLst>
              <a:ext uri="{FF2B5EF4-FFF2-40B4-BE49-F238E27FC236}">
                <a16:creationId xmlns:a16="http://schemas.microsoft.com/office/drawing/2014/main" id="{9D332AEC-A6D7-716F-7C64-C97C699E6571}"/>
              </a:ext>
            </a:extLst>
          </p:cNvPr>
          <p:cNvSpPr txBox="1"/>
          <p:nvPr/>
        </p:nvSpPr>
        <p:spPr>
          <a:xfrm>
            <a:off x="4315460" y="5033772"/>
            <a:ext cx="3198368" cy="533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Primary: </a:t>
            </a:r>
            <a:r>
              <a:rPr sz="1050" b="0" i="0">
                <a:solidFill>
                  <a:srgbClr val="1A1A2E"/>
                </a:solidFill>
                <a:latin typeface="Calibri"/>
              </a:rPr>
              <a:t>BFSI, Insurance, Healthcare</a:t>
            </a:r>
            <a:endParaRPr lang="en-US" sz="1050" b="0" i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E2761"/>
                </a:solidFill>
                <a:latin typeface="Calibri"/>
              </a:rPr>
              <a:t>Expansion: </a:t>
            </a:r>
            <a:r>
              <a:rPr sz="1050" b="0" i="0">
                <a:solidFill>
                  <a:srgbClr val="1A1A2E"/>
                </a:solidFill>
                <a:latin typeface="Calibri"/>
              </a:rPr>
              <a:t>Manufacturing, Retail, Telecom, IT/</a:t>
            </a:r>
            <a:r>
              <a:rPr sz="1050" b="0" i="0" err="1">
                <a:solidFill>
                  <a:srgbClr val="1A1A2E"/>
                </a:solidFill>
                <a:latin typeface="Calibri"/>
              </a:rPr>
              <a:t>ITeS</a:t>
            </a:r>
            <a:r>
              <a:rPr sz="1050" b="0" i="0">
                <a:solidFill>
                  <a:srgbClr val="1A1A2E"/>
                </a:solidFill>
                <a:latin typeface="Calibri"/>
              </a:rPr>
              <a:t>, Government</a:t>
            </a:r>
            <a:endParaRPr sz="1050" b="0" i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Rounded Rectangle 25">
            <a:extLst>
              <a:ext uri="{FF2B5EF4-FFF2-40B4-BE49-F238E27FC236}">
                <a16:creationId xmlns:a16="http://schemas.microsoft.com/office/drawing/2014/main" id="{E4BA646D-88AB-EE86-A4B1-C003F4FAB1E7}"/>
              </a:ext>
            </a:extLst>
          </p:cNvPr>
          <p:cNvSpPr/>
          <p:nvPr/>
        </p:nvSpPr>
        <p:spPr>
          <a:xfrm>
            <a:off x="7897876" y="4649724"/>
            <a:ext cx="3564128" cy="141732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9" name="TextBox 26">
            <a:extLst>
              <a:ext uri="{FF2B5EF4-FFF2-40B4-BE49-F238E27FC236}">
                <a16:creationId xmlns:a16="http://schemas.microsoft.com/office/drawing/2014/main" id="{18C043E3-A67A-F942-9AC3-5C479942C0CA}"/>
              </a:ext>
            </a:extLst>
          </p:cNvPr>
          <p:cNvSpPr txBox="1"/>
          <p:nvPr/>
        </p:nvSpPr>
        <p:spPr>
          <a:xfrm>
            <a:off x="8080756" y="4777740"/>
            <a:ext cx="319836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b="1" i="0" spc="100">
                <a:solidFill>
                  <a:srgbClr val="E8A33D"/>
                </a:solidFill>
                <a:latin typeface="Calibri"/>
              </a:rPr>
              <a:t>MARKET TRENDS</a:t>
            </a:r>
            <a:r>
              <a:rPr lang="en-US" sz="1100" b="1" spc="100">
                <a:solidFill>
                  <a:srgbClr val="E8A33D"/>
                </a:solidFill>
                <a:latin typeface="Calibri"/>
              </a:rPr>
              <a:t> - Agentic AI</a:t>
            </a:r>
            <a:endParaRPr lang="en-US" sz="1100" b="1" i="0" spc="100">
              <a:solidFill>
                <a:srgbClr val="E8A3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TextBox 27">
            <a:extLst>
              <a:ext uri="{FF2B5EF4-FFF2-40B4-BE49-F238E27FC236}">
                <a16:creationId xmlns:a16="http://schemas.microsoft.com/office/drawing/2014/main" id="{A92A6BC8-53DD-BB17-803C-652534E5FD4C}"/>
              </a:ext>
            </a:extLst>
          </p:cNvPr>
          <p:cNvSpPr txBox="1"/>
          <p:nvPr/>
        </p:nvSpPr>
        <p:spPr>
          <a:xfrm>
            <a:off x="8080756" y="5033772"/>
            <a:ext cx="3198368" cy="352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✓  </a:t>
            </a:r>
            <a:r>
              <a:rPr sz="1050" b="0" i="0">
                <a:solidFill>
                  <a:srgbClr val="1A1A2E"/>
                </a:solidFill>
                <a:latin typeface="Calibri"/>
              </a:rPr>
              <a:t>Independent forecasts project 40–50% CAGR (2026–2033).</a:t>
            </a:r>
            <a:endParaRPr lang="en-US" sz="1050" b="0" i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841ECBE-93A1-870B-69BE-18D8E9771A80}"/>
              </a:ext>
            </a:extLst>
          </p:cNvPr>
          <p:cNvSpPr txBox="1"/>
          <p:nvPr/>
        </p:nvSpPr>
        <p:spPr>
          <a:xfrm>
            <a:off x="367284" y="1121184"/>
            <a:ext cx="110947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6B7280"/>
                </a:solidFill>
                <a:ea typeface="+mn-lt"/>
                <a:cs typeface="+mn-lt"/>
              </a:rPr>
              <a:t>Market potential - Upto 233 Bn$ in 2033 ( 40% CAGR)</a:t>
            </a:r>
          </a:p>
        </p:txBody>
      </p:sp>
    </p:spTree>
    <p:extLst>
      <p:ext uri="{BB962C8B-B14F-4D97-AF65-F5344CB8AC3E}">
        <p14:creationId xmlns:p14="http://schemas.microsoft.com/office/powerpoint/2010/main" val="14695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D6A34-8789-E297-1B47-33FEBD2D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50D82CD-929A-E2CB-B2FD-A26B8FBD7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DE81AF0D-06FF-0371-E5A4-1E166DEEF29F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9B79AB6E-ACDA-BF61-943E-73671B30100B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10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F8D262-BAAC-97D1-71B6-9248B2D18FD1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12287A4-681E-EA43-D25A-1466C9935E7A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EACEE78-4A0A-65B5-00B8-D5A56D97DBC9}"/>
              </a:ext>
            </a:extLst>
          </p:cNvPr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DEFINITION · COMMERCIAL STRATEGY</a:t>
            </a:r>
            <a:endParaRPr lang="en-US" sz="12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010A118-088C-BA20-1ED5-7C7AB58C4A74}"/>
              </a:ext>
            </a:extLst>
          </p:cNvPr>
          <p:cNvSpPr txBox="1"/>
          <p:nvPr/>
        </p:nvSpPr>
        <p:spPr>
          <a:xfrm>
            <a:off x="548640" y="676656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 Model</a:t>
            </a:r>
            <a:endParaRPr lang="en-US" sz="270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5D3AC93-E0A8-078D-C0B4-BF23E91D011E}"/>
              </a:ext>
            </a:extLst>
          </p:cNvPr>
          <p:cNvSpPr/>
          <p:nvPr/>
        </p:nvSpPr>
        <p:spPr>
          <a:xfrm>
            <a:off x="548640" y="141732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4E34D43-E2DA-7D0B-F6F2-D3461AB76AD4}"/>
              </a:ext>
            </a:extLst>
          </p:cNvPr>
          <p:cNvSpPr/>
          <p:nvPr/>
        </p:nvSpPr>
        <p:spPr>
          <a:xfrm>
            <a:off x="1362456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3A8426-A299-857A-783C-171519CAF972}"/>
              </a:ext>
            </a:extLst>
          </p:cNvPr>
          <p:cNvSpPr txBox="1"/>
          <p:nvPr/>
        </p:nvSpPr>
        <p:spPr>
          <a:xfrm>
            <a:off x="1362456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357A0AA-0A91-63D9-E5C5-F394A4FE27F9}"/>
              </a:ext>
            </a:extLst>
          </p:cNvPr>
          <p:cNvSpPr txBox="1"/>
          <p:nvPr/>
        </p:nvSpPr>
        <p:spPr>
          <a:xfrm>
            <a:off x="658368" y="21945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Discovery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15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8F12E21-F3CA-2E7B-C84E-5B8790ACA6FD}"/>
              </a:ext>
            </a:extLst>
          </p:cNvPr>
          <p:cNvSpPr/>
          <p:nvPr/>
        </p:nvSpPr>
        <p:spPr>
          <a:xfrm>
            <a:off x="996696" y="27889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32D6DB3-E27E-F651-624C-137D37691B2E}"/>
              </a:ext>
            </a:extLst>
          </p:cNvPr>
          <p:cNvSpPr txBox="1"/>
          <p:nvPr/>
        </p:nvSpPr>
        <p:spPr>
          <a:xfrm>
            <a:off x="996696" y="2788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chemeClr val="bg1"/>
                </a:solidFill>
              </a:rPr>
              <a:t>GOAL</a:t>
            </a: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88F41BE-2558-C914-B079-16C54BC4B5E8}"/>
              </a:ext>
            </a:extLst>
          </p:cNvPr>
          <p:cNvSpPr txBox="1"/>
          <p:nvPr/>
        </p:nvSpPr>
        <p:spPr>
          <a:xfrm>
            <a:off x="658368" y="32004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processes for transformation readiness.</a:t>
            </a:r>
            <a:endParaRPr lang="en-US" sz="85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E7038A2-93F0-AD66-BF5B-3AB9202A7C40}"/>
              </a:ext>
            </a:extLst>
          </p:cNvPr>
          <p:cNvSpPr txBox="1"/>
          <p:nvPr/>
        </p:nvSpPr>
        <p:spPr>
          <a:xfrm>
            <a:off x="2615184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2DE0B338-DB44-1D27-567F-ACA9338B020F}"/>
              </a:ext>
            </a:extLst>
          </p:cNvPr>
          <p:cNvSpPr/>
          <p:nvPr/>
        </p:nvSpPr>
        <p:spPr>
          <a:xfrm>
            <a:off x="2752344" y="141732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A01D5169-BB02-C4CF-046B-7480DB3DDC24}"/>
              </a:ext>
            </a:extLst>
          </p:cNvPr>
          <p:cNvSpPr/>
          <p:nvPr/>
        </p:nvSpPr>
        <p:spPr>
          <a:xfrm>
            <a:off x="356616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7F8F6FC-A4A4-FE98-BCF9-8A05EA5B9415}"/>
              </a:ext>
            </a:extLst>
          </p:cNvPr>
          <p:cNvSpPr txBox="1"/>
          <p:nvPr/>
        </p:nvSpPr>
        <p:spPr>
          <a:xfrm>
            <a:off x="35661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E4B83A07-8DF4-9173-FE72-C339A4D28F18}"/>
              </a:ext>
            </a:extLst>
          </p:cNvPr>
          <p:cNvSpPr txBox="1"/>
          <p:nvPr/>
        </p:nvSpPr>
        <p:spPr>
          <a:xfrm>
            <a:off x="2862072" y="21945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Design /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Blueprinting</a:t>
            </a:r>
            <a:endParaRPr lang="en-US" sz="115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A072300B-F83A-BC24-B15F-D3C7A5ABD842}"/>
              </a:ext>
            </a:extLst>
          </p:cNvPr>
          <p:cNvSpPr/>
          <p:nvPr/>
        </p:nvSpPr>
        <p:spPr>
          <a:xfrm>
            <a:off x="3200400" y="27889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9738A9F-1748-9E8C-5865-EA3633EC9950}"/>
              </a:ext>
            </a:extLst>
          </p:cNvPr>
          <p:cNvSpPr txBox="1"/>
          <p:nvPr/>
        </p:nvSpPr>
        <p:spPr>
          <a:xfrm>
            <a:off x="3200400" y="2788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95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9E74BA69-2FAB-AFCF-B4BB-71A56659E48E}"/>
              </a:ext>
            </a:extLst>
          </p:cNvPr>
          <p:cNvSpPr txBox="1"/>
          <p:nvPr/>
        </p:nvSpPr>
        <p:spPr>
          <a:xfrm>
            <a:off x="2862072" y="32004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Risk, Compliance &amp; Decision agents — blueprinted per process.</a:t>
            </a:r>
            <a:endParaRPr lang="en-US" sz="85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5038CBB-2318-9180-A6F5-CD6243D53F5A}"/>
              </a:ext>
            </a:extLst>
          </p:cNvPr>
          <p:cNvSpPr txBox="1"/>
          <p:nvPr/>
        </p:nvSpPr>
        <p:spPr>
          <a:xfrm>
            <a:off x="4818888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0BB97514-1FD4-F3FD-FE03-C5A3D1ECB44A}"/>
              </a:ext>
            </a:extLst>
          </p:cNvPr>
          <p:cNvSpPr/>
          <p:nvPr/>
        </p:nvSpPr>
        <p:spPr>
          <a:xfrm>
            <a:off x="4956048" y="141732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EBC51DAC-58CC-34F1-4669-800752DBD7C0}"/>
              </a:ext>
            </a:extLst>
          </p:cNvPr>
          <p:cNvSpPr/>
          <p:nvPr/>
        </p:nvSpPr>
        <p:spPr>
          <a:xfrm>
            <a:off x="5769864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49446FB9-BD3B-77D0-9242-A9D313BB4736}"/>
              </a:ext>
            </a:extLst>
          </p:cNvPr>
          <p:cNvSpPr txBox="1"/>
          <p:nvPr/>
        </p:nvSpPr>
        <p:spPr>
          <a:xfrm>
            <a:off x="5769864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5E5152E3-7F9E-4DA0-565B-633526720882}"/>
              </a:ext>
            </a:extLst>
          </p:cNvPr>
          <p:cNvSpPr txBox="1"/>
          <p:nvPr/>
        </p:nvSpPr>
        <p:spPr>
          <a:xfrm>
            <a:off x="5065776" y="21945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15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6976851F-57B9-EF99-652F-DDBD4CB28EE1}"/>
              </a:ext>
            </a:extLst>
          </p:cNvPr>
          <p:cNvSpPr/>
          <p:nvPr/>
        </p:nvSpPr>
        <p:spPr>
          <a:xfrm>
            <a:off x="5404104" y="27889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112B7F4-697E-B876-3DEE-47DC28589E7F}"/>
              </a:ext>
            </a:extLst>
          </p:cNvPr>
          <p:cNvSpPr txBox="1"/>
          <p:nvPr/>
        </p:nvSpPr>
        <p:spPr>
          <a:xfrm>
            <a:off x="5404104" y="2788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IGNITEZ</a:t>
            </a:r>
            <a:endParaRPr lang="en-US" sz="950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DA83C5FE-FE36-F249-AD22-21F5A575E5FD}"/>
              </a:ext>
            </a:extLst>
          </p:cNvPr>
          <p:cNvSpPr txBox="1"/>
          <p:nvPr/>
        </p:nvSpPr>
        <p:spPr>
          <a:xfrm>
            <a:off x="5065776" y="32004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platform for complex, interdependent workflows.</a:t>
            </a:r>
            <a:endParaRPr lang="en-US" sz="85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82CABC1B-C441-38A0-7D15-265AC6BA86D2}"/>
              </a:ext>
            </a:extLst>
          </p:cNvPr>
          <p:cNvSpPr txBox="1"/>
          <p:nvPr/>
        </p:nvSpPr>
        <p:spPr>
          <a:xfrm>
            <a:off x="7022592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1F5FDB0F-C0D5-E193-87FC-42E57DCA68B7}"/>
              </a:ext>
            </a:extLst>
          </p:cNvPr>
          <p:cNvSpPr/>
          <p:nvPr/>
        </p:nvSpPr>
        <p:spPr>
          <a:xfrm>
            <a:off x="7159752" y="141732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1CDD6747-F08F-AEE1-D5EB-5B94A0673C6F}"/>
              </a:ext>
            </a:extLst>
          </p:cNvPr>
          <p:cNvSpPr/>
          <p:nvPr/>
        </p:nvSpPr>
        <p:spPr>
          <a:xfrm>
            <a:off x="7973568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C2CEA94C-F2E2-68C3-9DED-8CDAB973B450}"/>
              </a:ext>
            </a:extLst>
          </p:cNvPr>
          <p:cNvSpPr txBox="1"/>
          <p:nvPr/>
        </p:nvSpPr>
        <p:spPr>
          <a:xfrm>
            <a:off x="7973568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E7570EE8-F999-BD59-4350-E9BE3570B828}"/>
              </a:ext>
            </a:extLst>
          </p:cNvPr>
          <p:cNvSpPr txBox="1"/>
          <p:nvPr/>
        </p:nvSpPr>
        <p:spPr>
          <a:xfrm>
            <a:off x="7269480" y="21945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Governance</a:t>
            </a:r>
            <a:endParaRPr lang="en-US" sz="11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15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41986329-A122-143D-A03A-91F1B103933F}"/>
              </a:ext>
            </a:extLst>
          </p:cNvPr>
          <p:cNvSpPr/>
          <p:nvPr/>
        </p:nvSpPr>
        <p:spPr>
          <a:xfrm>
            <a:off x="7607808" y="27889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9895A96A-17C0-31C5-8A77-CB5EB6FA7F06}"/>
              </a:ext>
            </a:extLst>
          </p:cNvPr>
          <p:cNvSpPr txBox="1"/>
          <p:nvPr/>
        </p:nvSpPr>
        <p:spPr>
          <a:xfrm>
            <a:off x="7607808" y="2799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TRUZT AI</a:t>
            </a:r>
            <a:endParaRPr lang="en-US" sz="950"/>
          </a:p>
        </p:txBody>
      </p:sp>
      <p:sp>
        <p:nvSpPr>
          <p:cNvPr id="73" name="Text 32">
            <a:extLst>
              <a:ext uri="{FF2B5EF4-FFF2-40B4-BE49-F238E27FC236}">
                <a16:creationId xmlns:a16="http://schemas.microsoft.com/office/drawing/2014/main" id="{20EC294E-20C4-889C-4698-E9AA31CD7BD1}"/>
              </a:ext>
            </a:extLst>
          </p:cNvPr>
          <p:cNvSpPr txBox="1"/>
          <p:nvPr/>
        </p:nvSpPr>
        <p:spPr>
          <a:xfrm>
            <a:off x="7269480" y="32004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Gen-AI quality assurance and output evaluation.</a:t>
            </a:r>
            <a:endParaRPr lang="en-US" sz="85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3AFF5F77-0717-F23F-984B-2C01D89CCF69}"/>
              </a:ext>
            </a:extLst>
          </p:cNvPr>
          <p:cNvSpPr txBox="1"/>
          <p:nvPr/>
        </p:nvSpPr>
        <p:spPr>
          <a:xfrm>
            <a:off x="9226296" y="16459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4DCF4993-6E76-7630-72FD-57551D1A821F}"/>
              </a:ext>
            </a:extLst>
          </p:cNvPr>
          <p:cNvSpPr/>
          <p:nvPr/>
        </p:nvSpPr>
        <p:spPr>
          <a:xfrm>
            <a:off x="9363456" y="141732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35">
            <a:extLst>
              <a:ext uri="{FF2B5EF4-FFF2-40B4-BE49-F238E27FC236}">
                <a16:creationId xmlns:a16="http://schemas.microsoft.com/office/drawing/2014/main" id="{0595FE82-C821-4855-0D11-F6E7CAC61D55}"/>
              </a:ext>
            </a:extLst>
          </p:cNvPr>
          <p:cNvSpPr/>
          <p:nvPr/>
        </p:nvSpPr>
        <p:spPr>
          <a:xfrm>
            <a:off x="10177272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 lIns="91440" tIns="45720" rIns="91440" bIns="45720"/>
          <a:lstStyle/>
          <a:p>
            <a:r>
              <a:rPr lang="en-IN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3958851A-B275-608C-FF82-31FB5271A7FA}"/>
              </a:ext>
            </a:extLst>
          </p:cNvPr>
          <p:cNvSpPr txBox="1"/>
          <p:nvPr/>
        </p:nvSpPr>
        <p:spPr>
          <a:xfrm>
            <a:off x="9473184" y="2194560"/>
            <a:ext cx="1865376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Managed Agent</a:t>
            </a:r>
            <a:endParaRPr lang="en-US" sz="1150">
              <a:solidFill>
                <a:srgbClr val="1E2761"/>
              </a:solidFill>
              <a:latin typeface="Cambria"/>
              <a:ea typeface="Cambria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Operations</a:t>
            </a:r>
            <a:endParaRPr lang="en-US" sz="1150">
              <a:solidFill>
                <a:srgbClr val="1E2761"/>
              </a:solidFill>
              <a:latin typeface="Cambria"/>
              <a:ea typeface="Cambria"/>
            </a:endParaRPr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987BBF24-4A9E-B060-3094-94CE0E4953E7}"/>
              </a:ext>
            </a:extLst>
          </p:cNvPr>
          <p:cNvSpPr txBox="1"/>
          <p:nvPr/>
        </p:nvSpPr>
        <p:spPr>
          <a:xfrm>
            <a:off x="9473184" y="320040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>
                <a:solidFill>
                  <a:srgbClr val="797F8C"/>
                </a:solidFill>
                <a:latin typeface="Calibri"/>
                <a:ea typeface="Calibri"/>
                <a:cs typeface="Calibri"/>
              </a:rPr>
              <a:t>Enterprise control plane — observability, learning, impact tracking.</a:t>
            </a:r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F0F14F69-6140-1487-3F79-01D9A5D22854}"/>
              </a:ext>
            </a:extLst>
          </p:cNvPr>
          <p:cNvSpPr txBox="1"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ILLUSTRATIVE, SCOPE-BASED (NOT SEAT-BASED)</a:t>
            </a:r>
            <a:endParaRPr lang="en-US" sz="1100"/>
          </a:p>
        </p:txBody>
      </p:sp>
      <p:sp>
        <p:nvSpPr>
          <p:cNvPr id="93" name="Shape 42">
            <a:extLst>
              <a:ext uri="{FF2B5EF4-FFF2-40B4-BE49-F238E27FC236}">
                <a16:creationId xmlns:a16="http://schemas.microsoft.com/office/drawing/2014/main" id="{E690A374-21F4-791C-F739-C0D77E27C043}"/>
              </a:ext>
            </a:extLst>
          </p:cNvPr>
          <p:cNvSpPr/>
          <p:nvPr/>
        </p:nvSpPr>
        <p:spPr>
          <a:xfrm>
            <a:off x="548640" y="425196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EA559556-5E86-C5A1-AE74-1739C64D9CBB}"/>
              </a:ext>
            </a:extLst>
          </p:cNvPr>
          <p:cNvSpPr txBox="1"/>
          <p:nvPr/>
        </p:nvSpPr>
        <p:spPr>
          <a:xfrm>
            <a:off x="777240" y="44165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/>
          </a:p>
        </p:txBody>
      </p:sp>
      <p:sp>
        <p:nvSpPr>
          <p:cNvPr id="97" name="Text 44">
            <a:extLst>
              <a:ext uri="{FF2B5EF4-FFF2-40B4-BE49-F238E27FC236}">
                <a16:creationId xmlns:a16="http://schemas.microsoft.com/office/drawing/2014/main" id="{1492302B-2CEB-575B-F42E-FBB475D7C68D}"/>
              </a:ext>
            </a:extLst>
          </p:cNvPr>
          <p:cNvSpPr txBox="1"/>
          <p:nvPr/>
        </p:nvSpPr>
        <p:spPr>
          <a:xfrm>
            <a:off x="77724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$25K–150K</a:t>
            </a:r>
            <a:endParaRPr lang="en-US" sz="2200"/>
          </a:p>
        </p:txBody>
      </p:sp>
      <p:sp>
        <p:nvSpPr>
          <p:cNvPr id="99" name="Text 45">
            <a:extLst>
              <a:ext uri="{FF2B5EF4-FFF2-40B4-BE49-F238E27FC236}">
                <a16:creationId xmlns:a16="http://schemas.microsoft.com/office/drawing/2014/main" id="{AEBDEF79-93B5-9249-D387-B00E431F8550}"/>
              </a:ext>
            </a:extLst>
          </p:cNvPr>
          <p:cNvSpPr txBox="1"/>
          <p:nvPr/>
        </p:nvSpPr>
        <p:spPr>
          <a:xfrm>
            <a:off x="777240" y="51846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one business unit</a:t>
            </a:r>
            <a:endParaRPr lang="en-US" sz="1050"/>
          </a:p>
        </p:txBody>
      </p:sp>
      <p:sp>
        <p:nvSpPr>
          <p:cNvPr id="101" name="Text 46">
            <a:extLst>
              <a:ext uri="{FF2B5EF4-FFF2-40B4-BE49-F238E27FC236}">
                <a16:creationId xmlns:a16="http://schemas.microsoft.com/office/drawing/2014/main" id="{F6F9E692-4DAF-4BF6-E01B-9DDA3BD19FF4}"/>
              </a:ext>
            </a:extLst>
          </p:cNvPr>
          <p:cNvSpPr txBox="1"/>
          <p:nvPr/>
        </p:nvSpPr>
        <p:spPr>
          <a:xfrm>
            <a:off x="777240" y="5486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+ Blueprint + working pilot</a:t>
            </a:r>
            <a:endParaRPr lang="en-US" sz="950"/>
          </a:p>
        </p:txBody>
      </p:sp>
      <p:sp>
        <p:nvSpPr>
          <p:cNvPr id="103" name="Shape 47">
            <a:extLst>
              <a:ext uri="{FF2B5EF4-FFF2-40B4-BE49-F238E27FC236}">
                <a16:creationId xmlns:a16="http://schemas.microsoft.com/office/drawing/2014/main" id="{EB3CE123-D5F8-0D7C-D51E-181941369BA5}"/>
              </a:ext>
            </a:extLst>
          </p:cNvPr>
          <p:cNvSpPr/>
          <p:nvPr/>
        </p:nvSpPr>
        <p:spPr>
          <a:xfrm>
            <a:off x="4343400" y="425196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48">
            <a:extLst>
              <a:ext uri="{FF2B5EF4-FFF2-40B4-BE49-F238E27FC236}">
                <a16:creationId xmlns:a16="http://schemas.microsoft.com/office/drawing/2014/main" id="{587ECD56-9D22-F294-97AC-400F6DB267D8}"/>
              </a:ext>
            </a:extLst>
          </p:cNvPr>
          <p:cNvSpPr txBox="1"/>
          <p:nvPr/>
        </p:nvSpPr>
        <p:spPr>
          <a:xfrm>
            <a:off x="4572000" y="44165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/>
          </a:p>
        </p:txBody>
      </p:sp>
      <p:sp>
        <p:nvSpPr>
          <p:cNvPr id="107" name="Text 49">
            <a:extLst>
              <a:ext uri="{FF2B5EF4-FFF2-40B4-BE49-F238E27FC236}">
                <a16:creationId xmlns:a16="http://schemas.microsoft.com/office/drawing/2014/main" id="{3BFF7687-FC9C-5D19-493A-0DD1FC6264C6}"/>
              </a:ext>
            </a:extLst>
          </p:cNvPr>
          <p:cNvSpPr txBox="1"/>
          <p:nvPr/>
        </p:nvSpPr>
        <p:spPr>
          <a:xfrm>
            <a:off x="4572000" y="4709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$300K–750K</a:t>
            </a:r>
            <a:endParaRPr lang="en-US" sz="2200"/>
          </a:p>
        </p:txBody>
      </p:sp>
      <p:sp>
        <p:nvSpPr>
          <p:cNvPr id="109" name="Text 50">
            <a:extLst>
              <a:ext uri="{FF2B5EF4-FFF2-40B4-BE49-F238E27FC236}">
                <a16:creationId xmlns:a16="http://schemas.microsoft.com/office/drawing/2014/main" id="{9454B3FB-4663-BB31-04EE-F0B9172E9D6D}"/>
              </a:ext>
            </a:extLst>
          </p:cNvPr>
          <p:cNvSpPr txBox="1"/>
          <p:nvPr/>
        </p:nvSpPr>
        <p:spPr>
          <a:xfrm>
            <a:off x="4572000" y="51846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processes, one function</a:t>
            </a:r>
            <a:endParaRPr lang="en-US" sz="1050"/>
          </a:p>
        </p:txBody>
      </p:sp>
      <p:sp>
        <p:nvSpPr>
          <p:cNvPr id="111" name="Text 51">
            <a:extLst>
              <a:ext uri="{FF2B5EF4-FFF2-40B4-BE49-F238E27FC236}">
                <a16:creationId xmlns:a16="http://schemas.microsoft.com/office/drawing/2014/main" id="{623FC0FC-8476-336E-B25A-2C5F764F6054}"/>
              </a:ext>
            </a:extLst>
          </p:cNvPr>
          <p:cNvSpPr txBox="1"/>
          <p:nvPr/>
        </p:nvSpPr>
        <p:spPr>
          <a:xfrm>
            <a:off x="4572000" y="5486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Milestone-based, bundled accelerator discount</a:t>
            </a:r>
            <a:endParaRPr lang="en-US" sz="950"/>
          </a:p>
        </p:txBody>
      </p:sp>
      <p:sp>
        <p:nvSpPr>
          <p:cNvPr id="113" name="Shape 52">
            <a:extLst>
              <a:ext uri="{FF2B5EF4-FFF2-40B4-BE49-F238E27FC236}">
                <a16:creationId xmlns:a16="http://schemas.microsoft.com/office/drawing/2014/main" id="{28864C52-060D-D94A-FAC7-EDF3BEC154B5}"/>
              </a:ext>
            </a:extLst>
          </p:cNvPr>
          <p:cNvSpPr/>
          <p:nvPr/>
        </p:nvSpPr>
        <p:spPr>
          <a:xfrm>
            <a:off x="8138160" y="4251960"/>
            <a:ext cx="3611880" cy="1600200"/>
          </a:xfrm>
          <a:prstGeom prst="roundRect">
            <a:avLst>
              <a:gd name="adj" fmla="val 4000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53">
            <a:extLst>
              <a:ext uri="{FF2B5EF4-FFF2-40B4-BE49-F238E27FC236}">
                <a16:creationId xmlns:a16="http://schemas.microsoft.com/office/drawing/2014/main" id="{2451454C-FA6F-159A-ACF7-F7FC27149296}"/>
              </a:ext>
            </a:extLst>
          </p:cNvPr>
          <p:cNvSpPr txBox="1"/>
          <p:nvPr/>
        </p:nvSpPr>
        <p:spPr>
          <a:xfrm>
            <a:off x="8366760" y="4416552"/>
            <a:ext cx="3154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ENTERPRISE PARTNERSHIP</a:t>
            </a:r>
            <a:endParaRPr lang="en-US" sz="1200">
              <a:solidFill>
                <a:srgbClr val="1E276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Text 54">
            <a:extLst>
              <a:ext uri="{FF2B5EF4-FFF2-40B4-BE49-F238E27FC236}">
                <a16:creationId xmlns:a16="http://schemas.microsoft.com/office/drawing/2014/main" id="{F737110E-5208-1309-E170-2D878BDE7523}"/>
              </a:ext>
            </a:extLst>
          </p:cNvPr>
          <p:cNvSpPr txBox="1"/>
          <p:nvPr/>
        </p:nvSpPr>
        <p:spPr>
          <a:xfrm>
            <a:off x="8366760" y="4709160"/>
            <a:ext cx="31546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$1M–2M+/yr</a:t>
            </a:r>
            <a:endParaRPr lang="en-US" sz="2200">
              <a:solidFill>
                <a:srgbClr val="1E2761"/>
              </a:solidFill>
              <a:latin typeface="Cambria"/>
              <a:ea typeface="Cambria"/>
            </a:endParaRPr>
          </a:p>
        </p:txBody>
      </p:sp>
      <p:sp>
        <p:nvSpPr>
          <p:cNvPr id="119" name="Text 55">
            <a:extLst>
              <a:ext uri="{FF2B5EF4-FFF2-40B4-BE49-F238E27FC236}">
                <a16:creationId xmlns:a16="http://schemas.microsoft.com/office/drawing/2014/main" id="{657FA669-C0D3-BD9B-E178-C07D2998CCA5}"/>
              </a:ext>
            </a:extLst>
          </p:cNvPr>
          <p:cNvSpPr txBox="1"/>
          <p:nvPr/>
        </p:nvSpPr>
        <p:spPr>
          <a:xfrm>
            <a:off x="8366760" y="5184648"/>
            <a:ext cx="31546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Org-wide</a:t>
            </a:r>
            <a:endParaRPr lang="en-US" sz="1050">
              <a:solidFill>
                <a:srgbClr val="1A1A2E"/>
              </a:solidFill>
            </a:endParaRPr>
          </a:p>
        </p:txBody>
      </p:sp>
      <p:sp>
        <p:nvSpPr>
          <p:cNvPr id="121" name="Text 56">
            <a:extLst>
              <a:ext uri="{FF2B5EF4-FFF2-40B4-BE49-F238E27FC236}">
                <a16:creationId xmlns:a16="http://schemas.microsoft.com/office/drawing/2014/main" id="{F67E55AA-3CFC-F9C0-941F-5487BB73777D}"/>
              </a:ext>
            </a:extLst>
          </p:cNvPr>
          <p:cNvSpPr txBox="1"/>
          <p:nvPr/>
        </p:nvSpPr>
        <p:spPr>
          <a:xfrm>
            <a:off x="8366760" y="5486400"/>
            <a:ext cx="31546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97F8D"/>
                </a:solidFill>
                <a:latin typeface="Calibri"/>
                <a:ea typeface="Calibri"/>
                <a:cs typeface="Calibri"/>
              </a:rPr>
              <a:t>Retainer + optional outcome-based share</a:t>
            </a:r>
          </a:p>
        </p:txBody>
      </p:sp>
      <p:sp>
        <p:nvSpPr>
          <p:cNvPr id="123" name="Text 57">
            <a:extLst>
              <a:ext uri="{FF2B5EF4-FFF2-40B4-BE49-F238E27FC236}">
                <a16:creationId xmlns:a16="http://schemas.microsoft.com/office/drawing/2014/main" id="{324AB823-B469-F709-C5CF-2AAF1A703070}"/>
              </a:ext>
            </a:extLst>
          </p:cNvPr>
          <p:cNvSpPr txBox="1"/>
          <p:nvPr/>
        </p:nvSpPr>
        <p:spPr>
          <a:xfrm>
            <a:off x="1819656" y="5977429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price points — Zuci's proposed commercial figures, not external market research. Usage-based and outcome-based layers available on top of Program/Enterprise tiers.</a:t>
            </a:r>
            <a:endParaRPr lang="en-US" sz="950"/>
          </a:p>
        </p:txBody>
      </p:sp>
      <p:sp>
        <p:nvSpPr>
          <p:cNvPr id="15" name="Shape 30">
            <a:extLst>
              <a:ext uri="{FF2B5EF4-FFF2-40B4-BE49-F238E27FC236}">
                <a16:creationId xmlns:a16="http://schemas.microsoft.com/office/drawing/2014/main" id="{FBDA1EBD-B2C3-73AA-2B83-1E38B445A804}"/>
              </a:ext>
            </a:extLst>
          </p:cNvPr>
          <p:cNvSpPr/>
          <p:nvPr/>
        </p:nvSpPr>
        <p:spPr>
          <a:xfrm>
            <a:off x="9700768" y="27889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E2761"/>
          </a:solidFill>
          <a:ln/>
        </p:spPr>
        <p:txBody>
          <a:bodyPr lIns="91440" tIns="45720" rIns="91440" bIns="45720"/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Calibri"/>
              </a:rPr>
              <a:t>ZOY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2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4871A-04AA-3492-0D17-8FED533E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531FA58-122C-09EE-7FFE-E2B36D927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C1AC2888-55CA-E100-9D4C-71F81E1544B4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B31120BF-FABE-D755-FF75-2E3E165F0528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11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002D36-2350-43D2-F83A-2CB05059BF1C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A3D9E65-D2DD-64F4-EF7A-A7DA287E815E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38C7740-17AE-1D06-6DA3-15DCDDD81F33}"/>
              </a:ext>
            </a:extLst>
          </p:cNvPr>
          <p:cNvSpPr/>
          <p:nvPr/>
        </p:nvSpPr>
        <p:spPr>
          <a:xfrm>
            <a:off x="548640" y="3017520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2CB20368-E1E8-DCF7-0457-A6D05A1E52C8}"/>
              </a:ext>
            </a:extLst>
          </p:cNvPr>
          <p:cNvSpPr/>
          <p:nvPr/>
        </p:nvSpPr>
        <p:spPr>
          <a:xfrm>
            <a:off x="5026660" y="3003804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0F56145-0FF6-C997-DE36-5073226D1963}"/>
              </a:ext>
            </a:extLst>
          </p:cNvPr>
          <p:cNvSpPr txBox="1"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45F205C6-76A4-433B-69EA-565B01ADD8DA}"/>
              </a:ext>
            </a:extLst>
          </p:cNvPr>
          <p:cNvSpPr txBox="1"/>
          <p:nvPr/>
        </p:nvSpPr>
        <p:spPr>
          <a:xfrm>
            <a:off x="367284" y="2606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AI-NATIVE</a:t>
            </a:r>
            <a:endParaRPr lang="en-US" sz="1200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C2AA2D28-42C8-D337-4266-6C9EAF0D5B92}"/>
              </a:ext>
            </a:extLst>
          </p:cNvPr>
          <p:cNvSpPr txBox="1"/>
          <p:nvPr/>
        </p:nvSpPr>
        <p:spPr>
          <a:xfrm>
            <a:off x="367284" y="55321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24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Entry Barriers for Competition</a:t>
            </a:r>
            <a:endParaRPr lang="en-US" sz="240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A9CD9C71-9468-9293-135B-D7F1755088F9}"/>
              </a:ext>
            </a:extLst>
          </p:cNvPr>
          <p:cNvSpPr/>
          <p:nvPr/>
        </p:nvSpPr>
        <p:spPr>
          <a:xfrm>
            <a:off x="367284" y="1248156"/>
            <a:ext cx="11064240" cy="21945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0A76F462-C51F-0AF9-3770-EDC99F4417D9}"/>
              </a:ext>
            </a:extLst>
          </p:cNvPr>
          <p:cNvSpPr txBox="1"/>
          <p:nvPr/>
        </p:nvSpPr>
        <p:spPr>
          <a:xfrm>
            <a:off x="641604" y="13853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kern="0" spc="1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NOVEL HERE</a:t>
            </a:r>
            <a:endParaRPr lang="en-US" sz="115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6D05B4C7-1F44-FF73-0FEA-67E9ADDCE7A6}"/>
              </a:ext>
            </a:extLst>
          </p:cNvPr>
          <p:cNvSpPr/>
          <p:nvPr/>
        </p:nvSpPr>
        <p:spPr>
          <a:xfrm>
            <a:off x="367284" y="3579876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F3E26FB6-0513-ACD0-BEB1-B513E2AFB208}"/>
              </a:ext>
            </a:extLst>
          </p:cNvPr>
          <p:cNvSpPr txBox="1"/>
          <p:nvPr/>
        </p:nvSpPr>
        <p:spPr>
          <a:xfrm>
            <a:off x="595884" y="37444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Capabilities</a:t>
            </a:r>
            <a:endParaRPr lang="en-US" sz="140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518B205B-55B4-8400-C82A-E8A39AE3BD75}"/>
              </a:ext>
            </a:extLst>
          </p:cNvPr>
          <p:cNvSpPr txBox="1"/>
          <p:nvPr/>
        </p:nvSpPr>
        <p:spPr>
          <a:xfrm>
            <a:off x="595884" y="41285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Engineering, QE, Architecture Advisory, and BFSI/healthcare domain expertise already combined under one roof.</a:t>
            </a:r>
            <a:endParaRPr lang="en-US" sz="110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CB50EF1B-FBA2-E6AE-78F2-8AEFF79A5D54}"/>
              </a:ext>
            </a:extLst>
          </p:cNvPr>
          <p:cNvSpPr/>
          <p:nvPr/>
        </p:nvSpPr>
        <p:spPr>
          <a:xfrm>
            <a:off x="4845304" y="3566160"/>
            <a:ext cx="36118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B5BB7422-E462-BBB2-AB54-539E4AF828A4}"/>
              </a:ext>
            </a:extLst>
          </p:cNvPr>
          <p:cNvSpPr txBox="1"/>
          <p:nvPr/>
        </p:nvSpPr>
        <p:spPr>
          <a:xfrm>
            <a:off x="5030724" y="37734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 Assets</a:t>
            </a:r>
            <a:endParaRPr lang="en-US" sz="140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4CD5A5A5-BAD4-B680-A87D-96ECDC2AE301}"/>
              </a:ext>
            </a:extLst>
          </p:cNvPr>
          <p:cNvSpPr txBox="1"/>
          <p:nvPr/>
        </p:nvSpPr>
        <p:spPr>
          <a:xfrm>
            <a:off x="5117084" y="396087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IGNITEZ, ZOY, CORTEX, TRUZT AI — already running in production.</a:t>
            </a:r>
            <a:endParaRPr lang="en-US" sz="110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C14749E7-5C9B-9FDA-D680-16289F244E13}"/>
              </a:ext>
            </a:extLst>
          </p:cNvPr>
          <p:cNvSpPr/>
          <p:nvPr/>
        </p:nvSpPr>
        <p:spPr>
          <a:xfrm>
            <a:off x="367284" y="5180076"/>
            <a:ext cx="11064240" cy="105156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E29FB31D-5010-4D6D-1278-F7D30F0BB844}"/>
              </a:ext>
            </a:extLst>
          </p:cNvPr>
          <p:cNvSpPr txBox="1"/>
          <p:nvPr/>
        </p:nvSpPr>
        <p:spPr>
          <a:xfrm>
            <a:off x="641604" y="53172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10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8940CAFE-C378-DB95-F832-116F9ECD4790}"/>
              </a:ext>
            </a:extLst>
          </p:cNvPr>
          <p:cNvSpPr txBox="1"/>
          <p:nvPr/>
        </p:nvSpPr>
        <p:spPr>
          <a:xfrm>
            <a:off x="595884" y="5267333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350" b="1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is the methodology:</a:t>
            </a: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scored, repeatable way to package them into a sellable transformation service, with genuine multi-agent reasoning at the core, instead of one-off engagements.</a:t>
            </a:r>
            <a:endParaRPr lang="en-US" sz="1350"/>
          </a:p>
        </p:txBody>
      </p:sp>
      <p:sp>
        <p:nvSpPr>
          <p:cNvPr id="51" name="Rounded Rectangle 19">
            <a:extLst>
              <a:ext uri="{FF2B5EF4-FFF2-40B4-BE49-F238E27FC236}">
                <a16:creationId xmlns:a16="http://schemas.microsoft.com/office/drawing/2014/main" id="{D594D3C2-2BE5-F8B4-9F70-48F9F9BC6542}"/>
              </a:ext>
            </a:extLst>
          </p:cNvPr>
          <p:cNvSpPr/>
          <p:nvPr/>
        </p:nvSpPr>
        <p:spPr>
          <a:xfrm>
            <a:off x="73304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CADCFC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D39028FB-F6B2-5EC3-44A5-017AFFE63EF3}"/>
              </a:ext>
            </a:extLst>
          </p:cNvPr>
          <p:cNvSpPr txBox="1"/>
          <p:nvPr/>
        </p:nvSpPr>
        <p:spPr>
          <a:xfrm>
            <a:off x="78790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Customer
Enterprise</a:t>
            </a:r>
          </a:p>
        </p:txBody>
      </p:sp>
      <p:sp>
        <p:nvSpPr>
          <p:cNvPr id="53" name="TextBox 21">
            <a:extLst>
              <a:ext uri="{FF2B5EF4-FFF2-40B4-BE49-F238E27FC236}">
                <a16:creationId xmlns:a16="http://schemas.microsoft.com/office/drawing/2014/main" id="{6CB07860-9436-6934-A5F0-F4E6685BF1E9}"/>
              </a:ext>
            </a:extLst>
          </p:cNvPr>
          <p:cNvSpPr txBox="1"/>
          <p:nvPr/>
        </p:nvSpPr>
        <p:spPr>
          <a:xfrm>
            <a:off x="201320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72B9BBBD-A869-7935-F4C0-AA088C13CCE5}"/>
              </a:ext>
            </a:extLst>
          </p:cNvPr>
          <p:cNvSpPr/>
          <p:nvPr/>
        </p:nvSpPr>
        <p:spPr>
          <a:xfrm>
            <a:off x="224180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4467C92-D6A7-66CF-B1A9-3A6B66610A53}"/>
              </a:ext>
            </a:extLst>
          </p:cNvPr>
          <p:cNvSpPr/>
          <p:nvPr/>
        </p:nvSpPr>
        <p:spPr>
          <a:xfrm>
            <a:off x="2763012" y="18608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BE74BA9C-630E-4C9B-289C-B9A69B1A96E2}"/>
              </a:ext>
            </a:extLst>
          </p:cNvPr>
          <p:cNvSpPr txBox="1"/>
          <p:nvPr/>
        </p:nvSpPr>
        <p:spPr>
          <a:xfrm>
            <a:off x="2763012" y="18608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7" name="TextBox 25">
            <a:extLst>
              <a:ext uri="{FF2B5EF4-FFF2-40B4-BE49-F238E27FC236}">
                <a16:creationId xmlns:a16="http://schemas.microsoft.com/office/drawing/2014/main" id="{391CD34C-930F-15E9-5880-B72C7BA3FCD5}"/>
              </a:ext>
            </a:extLst>
          </p:cNvPr>
          <p:cNvSpPr txBox="1"/>
          <p:nvPr/>
        </p:nvSpPr>
        <p:spPr>
          <a:xfrm>
            <a:off x="229666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Discovery</a:t>
            </a:r>
          </a:p>
        </p:txBody>
      </p:sp>
      <p:sp>
        <p:nvSpPr>
          <p:cNvPr id="58" name="TextBox 26">
            <a:extLst>
              <a:ext uri="{FF2B5EF4-FFF2-40B4-BE49-F238E27FC236}">
                <a16:creationId xmlns:a16="http://schemas.microsoft.com/office/drawing/2014/main" id="{CFED2994-288A-65A3-6AC3-B59EA936DBAC}"/>
              </a:ext>
            </a:extLst>
          </p:cNvPr>
          <p:cNvSpPr txBox="1"/>
          <p:nvPr/>
        </p:nvSpPr>
        <p:spPr>
          <a:xfrm>
            <a:off x="352196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4EA9D509-DB08-B10F-61A4-F5B56F8D8376}"/>
              </a:ext>
            </a:extLst>
          </p:cNvPr>
          <p:cNvSpPr/>
          <p:nvPr/>
        </p:nvSpPr>
        <p:spPr>
          <a:xfrm>
            <a:off x="375056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E888AA7-275E-4671-7F3A-0E08078FA1D4}"/>
              </a:ext>
            </a:extLst>
          </p:cNvPr>
          <p:cNvSpPr/>
          <p:nvPr/>
        </p:nvSpPr>
        <p:spPr>
          <a:xfrm>
            <a:off x="4271772" y="18608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1" name="TextBox 29">
            <a:extLst>
              <a:ext uri="{FF2B5EF4-FFF2-40B4-BE49-F238E27FC236}">
                <a16:creationId xmlns:a16="http://schemas.microsoft.com/office/drawing/2014/main" id="{9FA9AD24-6C00-2071-7238-B82D58160F6F}"/>
              </a:ext>
            </a:extLst>
          </p:cNvPr>
          <p:cNvSpPr txBox="1"/>
          <p:nvPr/>
        </p:nvSpPr>
        <p:spPr>
          <a:xfrm>
            <a:off x="4271772" y="18608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2" name="TextBox 30">
            <a:extLst>
              <a:ext uri="{FF2B5EF4-FFF2-40B4-BE49-F238E27FC236}">
                <a16:creationId xmlns:a16="http://schemas.microsoft.com/office/drawing/2014/main" id="{AF5B5B6F-9D90-A43F-4131-54497C1B787F}"/>
              </a:ext>
            </a:extLst>
          </p:cNvPr>
          <p:cNvSpPr txBox="1"/>
          <p:nvPr/>
        </p:nvSpPr>
        <p:spPr>
          <a:xfrm>
            <a:off x="380542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Assessment</a:t>
            </a:r>
          </a:p>
        </p:txBody>
      </p:sp>
      <p:sp>
        <p:nvSpPr>
          <p:cNvPr id="63" name="TextBox 31">
            <a:extLst>
              <a:ext uri="{FF2B5EF4-FFF2-40B4-BE49-F238E27FC236}">
                <a16:creationId xmlns:a16="http://schemas.microsoft.com/office/drawing/2014/main" id="{44EAB1A3-9921-084B-A041-DC3AA6149921}"/>
              </a:ext>
            </a:extLst>
          </p:cNvPr>
          <p:cNvSpPr txBox="1"/>
          <p:nvPr/>
        </p:nvSpPr>
        <p:spPr>
          <a:xfrm>
            <a:off x="503072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64" name="Rounded Rectangle 32">
            <a:extLst>
              <a:ext uri="{FF2B5EF4-FFF2-40B4-BE49-F238E27FC236}">
                <a16:creationId xmlns:a16="http://schemas.microsoft.com/office/drawing/2014/main" id="{DBA7ADF2-B3D2-DABF-0ACF-C7635D6FAADE}"/>
              </a:ext>
            </a:extLst>
          </p:cNvPr>
          <p:cNvSpPr/>
          <p:nvPr/>
        </p:nvSpPr>
        <p:spPr>
          <a:xfrm>
            <a:off x="525932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9909309-03AB-2DF3-912E-7642C36CCD9A}"/>
              </a:ext>
            </a:extLst>
          </p:cNvPr>
          <p:cNvSpPr/>
          <p:nvPr/>
        </p:nvSpPr>
        <p:spPr>
          <a:xfrm>
            <a:off x="5780532" y="18608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6" name="TextBox 34">
            <a:extLst>
              <a:ext uri="{FF2B5EF4-FFF2-40B4-BE49-F238E27FC236}">
                <a16:creationId xmlns:a16="http://schemas.microsoft.com/office/drawing/2014/main" id="{7045F7F7-59E1-BE6F-06A9-45772AAE266B}"/>
              </a:ext>
            </a:extLst>
          </p:cNvPr>
          <p:cNvSpPr txBox="1"/>
          <p:nvPr/>
        </p:nvSpPr>
        <p:spPr>
          <a:xfrm>
            <a:off x="5780532" y="18608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7" name="TextBox 35">
            <a:extLst>
              <a:ext uri="{FF2B5EF4-FFF2-40B4-BE49-F238E27FC236}">
                <a16:creationId xmlns:a16="http://schemas.microsoft.com/office/drawing/2014/main" id="{69ACC6CE-F127-6D26-0C7B-AE80C4D7B54F}"/>
              </a:ext>
            </a:extLst>
          </p:cNvPr>
          <p:cNvSpPr txBox="1"/>
          <p:nvPr/>
        </p:nvSpPr>
        <p:spPr>
          <a:xfrm>
            <a:off x="531418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Design</a:t>
            </a:r>
          </a:p>
        </p:txBody>
      </p:sp>
      <p:sp>
        <p:nvSpPr>
          <p:cNvPr id="68" name="TextBox 36">
            <a:extLst>
              <a:ext uri="{FF2B5EF4-FFF2-40B4-BE49-F238E27FC236}">
                <a16:creationId xmlns:a16="http://schemas.microsoft.com/office/drawing/2014/main" id="{40085E23-CCCA-6E81-5ED6-E87AF5593FE7}"/>
              </a:ext>
            </a:extLst>
          </p:cNvPr>
          <p:cNvSpPr txBox="1"/>
          <p:nvPr/>
        </p:nvSpPr>
        <p:spPr>
          <a:xfrm>
            <a:off x="653948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37">
            <a:extLst>
              <a:ext uri="{FF2B5EF4-FFF2-40B4-BE49-F238E27FC236}">
                <a16:creationId xmlns:a16="http://schemas.microsoft.com/office/drawing/2014/main" id="{1F1F7BA7-9521-166E-1BEE-03BC6B9758D5}"/>
              </a:ext>
            </a:extLst>
          </p:cNvPr>
          <p:cNvSpPr/>
          <p:nvPr/>
        </p:nvSpPr>
        <p:spPr>
          <a:xfrm>
            <a:off x="676808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3A3AA4B7-87DB-610C-8BB9-6953A5E44E82}"/>
              </a:ext>
            </a:extLst>
          </p:cNvPr>
          <p:cNvSpPr/>
          <p:nvPr/>
        </p:nvSpPr>
        <p:spPr>
          <a:xfrm>
            <a:off x="7289292" y="18608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1" name="TextBox 39">
            <a:extLst>
              <a:ext uri="{FF2B5EF4-FFF2-40B4-BE49-F238E27FC236}">
                <a16:creationId xmlns:a16="http://schemas.microsoft.com/office/drawing/2014/main" id="{CBE20D4D-2F0E-7BD1-D6D1-F157DB4B5056}"/>
              </a:ext>
            </a:extLst>
          </p:cNvPr>
          <p:cNvSpPr txBox="1"/>
          <p:nvPr/>
        </p:nvSpPr>
        <p:spPr>
          <a:xfrm>
            <a:off x="7289292" y="18608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2" name="TextBox 40">
            <a:extLst>
              <a:ext uri="{FF2B5EF4-FFF2-40B4-BE49-F238E27FC236}">
                <a16:creationId xmlns:a16="http://schemas.microsoft.com/office/drawing/2014/main" id="{C5B2149C-9AC1-BF29-9D68-91985C65A9CC}"/>
              </a:ext>
            </a:extLst>
          </p:cNvPr>
          <p:cNvSpPr txBox="1"/>
          <p:nvPr/>
        </p:nvSpPr>
        <p:spPr>
          <a:xfrm>
            <a:off x="6822948" y="2508633"/>
            <a:ext cx="1170431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spcAft>
                <a:spcPts val="0"/>
              </a:spcAft>
              <a:defRPr sz="850" b="1" i="0">
                <a:solidFill>
                  <a:srgbClr val="1E2761"/>
                </a:solidFill>
                <a:latin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Implementation</a:t>
            </a:r>
          </a:p>
        </p:txBody>
      </p:sp>
      <p:sp>
        <p:nvSpPr>
          <p:cNvPr id="73" name="TextBox 41">
            <a:extLst>
              <a:ext uri="{FF2B5EF4-FFF2-40B4-BE49-F238E27FC236}">
                <a16:creationId xmlns:a16="http://schemas.microsoft.com/office/drawing/2014/main" id="{8DDB8530-B86C-B4E2-4803-5177E8A08A00}"/>
              </a:ext>
            </a:extLst>
          </p:cNvPr>
          <p:cNvSpPr txBox="1"/>
          <p:nvPr/>
        </p:nvSpPr>
        <p:spPr>
          <a:xfrm>
            <a:off x="804824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74" name="Rounded Rectangle 42">
            <a:extLst>
              <a:ext uri="{FF2B5EF4-FFF2-40B4-BE49-F238E27FC236}">
                <a16:creationId xmlns:a16="http://schemas.microsoft.com/office/drawing/2014/main" id="{F868FB7F-BCAB-C2F5-6451-0779AE7653E5}"/>
              </a:ext>
            </a:extLst>
          </p:cNvPr>
          <p:cNvSpPr/>
          <p:nvPr/>
        </p:nvSpPr>
        <p:spPr>
          <a:xfrm>
            <a:off x="827684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488B6D-3BE3-61E5-68A3-A5C3CB7C2A49}"/>
              </a:ext>
            </a:extLst>
          </p:cNvPr>
          <p:cNvSpPr/>
          <p:nvPr/>
        </p:nvSpPr>
        <p:spPr>
          <a:xfrm>
            <a:off x="8798052" y="1860804"/>
            <a:ext cx="237744" cy="23774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6" name="TextBox 44">
            <a:extLst>
              <a:ext uri="{FF2B5EF4-FFF2-40B4-BE49-F238E27FC236}">
                <a16:creationId xmlns:a16="http://schemas.microsoft.com/office/drawing/2014/main" id="{53C44B35-1B2B-C5C3-21F3-B46319F620D3}"/>
              </a:ext>
            </a:extLst>
          </p:cNvPr>
          <p:cNvSpPr txBox="1"/>
          <p:nvPr/>
        </p:nvSpPr>
        <p:spPr>
          <a:xfrm>
            <a:off x="8798052" y="186080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7" name="TextBox 45">
            <a:extLst>
              <a:ext uri="{FF2B5EF4-FFF2-40B4-BE49-F238E27FC236}">
                <a16:creationId xmlns:a16="http://schemas.microsoft.com/office/drawing/2014/main" id="{8F7E630C-F026-3C5A-A7FD-B7F32AE58616}"/>
              </a:ext>
            </a:extLst>
          </p:cNvPr>
          <p:cNvSpPr txBox="1"/>
          <p:nvPr/>
        </p:nvSpPr>
        <p:spPr>
          <a:xfrm>
            <a:off x="833170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Governance</a:t>
            </a:r>
          </a:p>
        </p:txBody>
      </p:sp>
      <p:sp>
        <p:nvSpPr>
          <p:cNvPr id="78" name="TextBox 46">
            <a:extLst>
              <a:ext uri="{FF2B5EF4-FFF2-40B4-BE49-F238E27FC236}">
                <a16:creationId xmlns:a16="http://schemas.microsoft.com/office/drawing/2014/main" id="{7BB46C4E-E839-D441-12F9-C6183D6479A9}"/>
              </a:ext>
            </a:extLst>
          </p:cNvPr>
          <p:cNvSpPr txBox="1"/>
          <p:nvPr/>
        </p:nvSpPr>
        <p:spPr>
          <a:xfrm>
            <a:off x="9557004" y="1979676"/>
            <a:ext cx="228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79" name="Rounded Rectangle 47">
            <a:extLst>
              <a:ext uri="{FF2B5EF4-FFF2-40B4-BE49-F238E27FC236}">
                <a16:creationId xmlns:a16="http://schemas.microsoft.com/office/drawing/2014/main" id="{C9CCE59F-113B-8B26-1381-D2CCFB6D92A2}"/>
              </a:ext>
            </a:extLst>
          </p:cNvPr>
          <p:cNvSpPr/>
          <p:nvPr/>
        </p:nvSpPr>
        <p:spPr>
          <a:xfrm>
            <a:off x="9785604" y="1979676"/>
            <a:ext cx="1280160" cy="118872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>
            <a:noFill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0" name="TextBox 48">
            <a:extLst>
              <a:ext uri="{FF2B5EF4-FFF2-40B4-BE49-F238E27FC236}">
                <a16:creationId xmlns:a16="http://schemas.microsoft.com/office/drawing/2014/main" id="{B4CE671C-4F90-E123-3EF3-082CF116D62B}"/>
              </a:ext>
            </a:extLst>
          </p:cNvPr>
          <p:cNvSpPr txBox="1"/>
          <p:nvPr/>
        </p:nvSpPr>
        <p:spPr>
          <a:xfrm>
            <a:off x="9840468" y="1979676"/>
            <a:ext cx="1170431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Agentic
Enterprise</a:t>
            </a:r>
          </a:p>
        </p:txBody>
      </p:sp>
    </p:spTree>
    <p:extLst>
      <p:ext uri="{BB962C8B-B14F-4D97-AF65-F5344CB8AC3E}">
        <p14:creationId xmlns:p14="http://schemas.microsoft.com/office/powerpoint/2010/main" val="375685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FAE3F-E352-5EF1-DACD-FE84C3FD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F4B7E6FA-A48F-5473-80A8-AF739C2F6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915CFB45-9121-D7D7-D7DE-D124E1AA712E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4035662E-F4BC-B514-1500-F34FDC58683E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12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3494C5-1EDE-22F3-CCFE-00141FAE8848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9A861104-148C-6C8E-2E3A-E42EB51D1438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44DA0D9-DACE-1860-73C5-6719B8C366DD}"/>
              </a:ext>
            </a:extLst>
          </p:cNvPr>
          <p:cNvSpPr txBox="1"/>
          <p:nvPr/>
        </p:nvSpPr>
        <p:spPr>
          <a:xfrm>
            <a:off x="321564" y="415563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2700"/>
          </a:p>
        </p:txBody>
      </p:sp>
      <p:sp>
        <p:nvSpPr>
          <p:cNvPr id="72" name="Shape 32">
            <a:extLst>
              <a:ext uri="{FF2B5EF4-FFF2-40B4-BE49-F238E27FC236}">
                <a16:creationId xmlns:a16="http://schemas.microsoft.com/office/drawing/2014/main" id="{7A2A847E-E473-61C9-09FE-ECCB597A6A44}"/>
              </a:ext>
            </a:extLst>
          </p:cNvPr>
          <p:cNvSpPr/>
          <p:nvPr/>
        </p:nvSpPr>
        <p:spPr>
          <a:xfrm>
            <a:off x="8165808" y="1618488"/>
            <a:ext cx="3840480" cy="4462272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CA6FA52D-2FCD-C90A-62C2-E92C12A93678}"/>
              </a:ext>
            </a:extLst>
          </p:cNvPr>
          <p:cNvSpPr txBox="1"/>
          <p:nvPr/>
        </p:nvSpPr>
        <p:spPr>
          <a:xfrm>
            <a:off x="8414004" y="2359152"/>
            <a:ext cx="3383280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Focus</a:t>
            </a:r>
            <a:b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Mid-market BFSI + existing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Zuci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relationships, not a horizontal platform play</a:t>
            </a:r>
            <a:endParaRPr lang="en-US" sz="115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Packaging </a:t>
            </a:r>
            <a:b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named, scored methodology (Assessment → Score → Blueprint → Pilot), not open-ended consulting</a:t>
            </a:r>
            <a:endParaRPr lang="en-US" sz="115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Proof </a:t>
            </a:r>
            <a:b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Shipped BFSI work (credit union automation, agentic document intelligence, 80% mortgage auto-approval) the big SCs pitch only conceptually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72A7579-BD03-D0CF-F50B-48242D5E416C}"/>
              </a:ext>
            </a:extLst>
          </p:cNvPr>
          <p:cNvSpPr txBox="1"/>
          <p:nvPr/>
        </p:nvSpPr>
        <p:spPr>
          <a:xfrm>
            <a:off x="458724" y="11978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IT-services rivals, grouped by what they lead with. Dots show overlap with Zuci’s proposal.</a:t>
            </a:r>
            <a:endParaRPr lang="en-US" sz="13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66068B0-CF76-0929-7856-5957E4F5D60A}"/>
              </a:ext>
            </a:extLst>
          </p:cNvPr>
          <p:cNvSpPr/>
          <p:nvPr/>
        </p:nvSpPr>
        <p:spPr>
          <a:xfrm>
            <a:off x="458724" y="1645920"/>
            <a:ext cx="23774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6AFB92C-A8F3-74C6-E2CC-2230C45C9C40}"/>
              </a:ext>
            </a:extLst>
          </p:cNvPr>
          <p:cNvSpPr txBox="1"/>
          <p:nvPr/>
        </p:nvSpPr>
        <p:spPr>
          <a:xfrm>
            <a:off x="595884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/>
          </a:p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sell a tool</a:t>
            </a:r>
            <a:endParaRPr lang="en-US" sz="120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3A753BA-79D5-2CC9-AA40-0EA7ADE98AB5}"/>
              </a:ext>
            </a:extLst>
          </p:cNvPr>
          <p:cNvSpPr/>
          <p:nvPr/>
        </p:nvSpPr>
        <p:spPr>
          <a:xfrm>
            <a:off x="458724" y="2194560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EFEFC4A-FC61-B2A8-FB3B-367B23A4B2CC}"/>
              </a:ext>
            </a:extLst>
          </p:cNvPr>
          <p:cNvSpPr txBox="1"/>
          <p:nvPr/>
        </p:nvSpPr>
        <p:spPr>
          <a:xfrm>
            <a:off x="595884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5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D510729-75AD-43AE-D340-0C17E4BFFC27}"/>
              </a:ext>
            </a:extLst>
          </p:cNvPr>
          <p:cNvSpPr txBox="1"/>
          <p:nvPr/>
        </p:nvSpPr>
        <p:spPr>
          <a:xfrm>
            <a:off x="1876044" y="2304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00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3D38761-64C9-D424-F287-7EFEC770C5CE}"/>
              </a:ext>
            </a:extLst>
          </p:cNvPr>
          <p:cNvSpPr txBox="1"/>
          <p:nvPr/>
        </p:nvSpPr>
        <p:spPr>
          <a:xfrm>
            <a:off x="59588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Heavy</a:t>
            </a:r>
            <a:endParaRPr lang="en-US" sz="130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81B8762-E4BA-7274-C7C9-B2FEBAED20B4}"/>
              </a:ext>
            </a:extLst>
          </p:cNvPr>
          <p:cNvSpPr/>
          <p:nvPr/>
        </p:nvSpPr>
        <p:spPr>
          <a:xfrm>
            <a:off x="458724" y="2962656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6E56FD4-A35C-B155-BFDD-113CAF74ECE9}"/>
              </a:ext>
            </a:extLst>
          </p:cNvPr>
          <p:cNvSpPr txBox="1"/>
          <p:nvPr/>
        </p:nvSpPr>
        <p:spPr>
          <a:xfrm>
            <a:off x="595884" y="3054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50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33F1FC4D-494E-7E58-E3CB-76D9A6D5326F}"/>
              </a:ext>
            </a:extLst>
          </p:cNvPr>
          <p:cNvSpPr txBox="1"/>
          <p:nvPr/>
        </p:nvSpPr>
        <p:spPr>
          <a:xfrm>
            <a:off x="1876044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00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7274C53-363D-976B-955A-2A35620244A4}"/>
              </a:ext>
            </a:extLst>
          </p:cNvPr>
          <p:cNvSpPr txBox="1"/>
          <p:nvPr/>
        </p:nvSpPr>
        <p:spPr>
          <a:xfrm>
            <a:off x="595884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Topaz Ecosystem</a:t>
            </a:r>
            <a:endParaRPr lang="en-US" sz="130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3BBAF53C-DB44-338A-45A2-0C5DC43AC077}"/>
              </a:ext>
            </a:extLst>
          </p:cNvPr>
          <p:cNvSpPr/>
          <p:nvPr/>
        </p:nvSpPr>
        <p:spPr>
          <a:xfrm>
            <a:off x="458724" y="3730752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CBB2DEED-20BF-3CCD-C5E9-49B0F7509A83}"/>
              </a:ext>
            </a:extLst>
          </p:cNvPr>
          <p:cNvSpPr txBox="1"/>
          <p:nvPr/>
        </p:nvSpPr>
        <p:spPr>
          <a:xfrm>
            <a:off x="595884" y="3822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50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EFECDDBB-62CB-735B-B1E4-CAB636D85062}"/>
              </a:ext>
            </a:extLst>
          </p:cNvPr>
          <p:cNvSpPr txBox="1"/>
          <p:nvPr/>
        </p:nvSpPr>
        <p:spPr>
          <a:xfrm>
            <a:off x="1876044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00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B20B606-CF10-64DB-E84E-A3D467A08470}"/>
              </a:ext>
            </a:extLst>
          </p:cNvPr>
          <p:cNvSpPr txBox="1"/>
          <p:nvPr/>
        </p:nvSpPr>
        <p:spPr>
          <a:xfrm>
            <a:off x="595884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Enterprise AI</a:t>
            </a:r>
            <a:endParaRPr lang="en-US" sz="130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6DCD5269-9AF8-B0D9-D113-A3DB4D05CB71}"/>
              </a:ext>
            </a:extLst>
          </p:cNvPr>
          <p:cNvSpPr/>
          <p:nvPr/>
        </p:nvSpPr>
        <p:spPr>
          <a:xfrm>
            <a:off x="458724" y="4498848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224F65FC-98AB-6403-79FB-448F60AAA543}"/>
              </a:ext>
            </a:extLst>
          </p:cNvPr>
          <p:cNvSpPr txBox="1"/>
          <p:nvPr/>
        </p:nvSpPr>
        <p:spPr>
          <a:xfrm>
            <a:off x="595884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Tech</a:t>
            </a:r>
            <a:endParaRPr lang="en-US" sz="150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2DF508A9-E691-6ABD-C492-3DF09694CFD8}"/>
              </a:ext>
            </a:extLst>
          </p:cNvPr>
          <p:cNvSpPr txBox="1"/>
          <p:nvPr/>
        </p:nvSpPr>
        <p:spPr>
          <a:xfrm>
            <a:off x="1876044" y="4608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00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962292DF-6283-5691-A36A-729C24AE4BE0}"/>
              </a:ext>
            </a:extLst>
          </p:cNvPr>
          <p:cNvSpPr txBox="1"/>
          <p:nvPr/>
        </p:nvSpPr>
        <p:spPr>
          <a:xfrm>
            <a:off x="595884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Agents</a:t>
            </a:r>
            <a:endParaRPr lang="en-US" sz="130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85322EC0-F1CA-8A96-E4D9-CD76A05989C7}"/>
              </a:ext>
            </a:extLst>
          </p:cNvPr>
          <p:cNvSpPr/>
          <p:nvPr/>
        </p:nvSpPr>
        <p:spPr>
          <a:xfrm>
            <a:off x="3019044" y="1645920"/>
            <a:ext cx="23774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458D1DA6-ACE9-EF09-2810-5B812E0F1E64}"/>
              </a:ext>
            </a:extLst>
          </p:cNvPr>
          <p:cNvSpPr txBox="1"/>
          <p:nvPr/>
        </p:nvSpPr>
        <p:spPr>
          <a:xfrm>
            <a:off x="3156204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/>
          </a:p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sell a reinvention story</a:t>
            </a:r>
            <a:endParaRPr lang="en-US" sz="1200"/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B19D5E27-6C53-472C-1ED6-85AD7ED65495}"/>
              </a:ext>
            </a:extLst>
          </p:cNvPr>
          <p:cNvSpPr/>
          <p:nvPr/>
        </p:nvSpPr>
        <p:spPr>
          <a:xfrm>
            <a:off x="3019044" y="2194560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7D32834F-97AA-DFA5-07C1-39D7DB8EAA02}"/>
              </a:ext>
            </a:extLst>
          </p:cNvPr>
          <p:cNvSpPr txBox="1"/>
          <p:nvPr/>
        </p:nvSpPr>
        <p:spPr>
          <a:xfrm>
            <a:off x="3156204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50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CB987E5D-EE15-23CB-0FEA-4239D8FCCFFE}"/>
              </a:ext>
            </a:extLst>
          </p:cNvPr>
          <p:cNvSpPr txBox="1"/>
          <p:nvPr/>
        </p:nvSpPr>
        <p:spPr>
          <a:xfrm>
            <a:off x="4436364" y="2304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000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4FD7E891-0D95-7029-13B0-4505D82B70C3}"/>
              </a:ext>
            </a:extLst>
          </p:cNvPr>
          <p:cNvSpPr txBox="1"/>
          <p:nvPr/>
        </p:nvSpPr>
        <p:spPr>
          <a:xfrm>
            <a:off x="315620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Workforce</a:t>
            </a:r>
            <a:endParaRPr lang="en-US" sz="1300"/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893B0E6B-63A9-07BB-BBE5-8EC67601A0A0}"/>
              </a:ext>
            </a:extLst>
          </p:cNvPr>
          <p:cNvSpPr/>
          <p:nvPr/>
        </p:nvSpPr>
        <p:spPr>
          <a:xfrm>
            <a:off x="3019044" y="2962656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5E671BD-DD7A-9184-B453-7D85B6EF7F91}"/>
              </a:ext>
            </a:extLst>
          </p:cNvPr>
          <p:cNvSpPr txBox="1"/>
          <p:nvPr/>
        </p:nvSpPr>
        <p:spPr>
          <a:xfrm>
            <a:off x="3156204" y="3054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50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E66830DA-6219-895D-3BF2-D55DA5A6D24A}"/>
              </a:ext>
            </a:extLst>
          </p:cNvPr>
          <p:cNvSpPr txBox="1"/>
          <p:nvPr/>
        </p:nvSpPr>
        <p:spPr>
          <a:xfrm>
            <a:off x="4436364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0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2E86CB56-4A7C-591B-3E92-6E241588884A}"/>
              </a:ext>
            </a:extLst>
          </p:cNvPr>
          <p:cNvSpPr txBox="1"/>
          <p:nvPr/>
        </p:nvSpPr>
        <p:spPr>
          <a:xfrm>
            <a:off x="3156204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Enterprise</a:t>
            </a:r>
            <a:endParaRPr lang="en-US" sz="1300"/>
          </a:p>
        </p:txBody>
      </p:sp>
      <p:sp>
        <p:nvSpPr>
          <p:cNvPr id="69" name="Shape 31">
            <a:extLst>
              <a:ext uri="{FF2B5EF4-FFF2-40B4-BE49-F238E27FC236}">
                <a16:creationId xmlns:a16="http://schemas.microsoft.com/office/drawing/2014/main" id="{9EE359AE-14C1-4A53-9216-3E873F9DC9D4}"/>
              </a:ext>
            </a:extLst>
          </p:cNvPr>
          <p:cNvSpPr/>
          <p:nvPr/>
        </p:nvSpPr>
        <p:spPr>
          <a:xfrm>
            <a:off x="3019044" y="3730752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AD577554-2941-711A-8A01-0523D1288E8E}"/>
              </a:ext>
            </a:extLst>
          </p:cNvPr>
          <p:cNvSpPr txBox="1"/>
          <p:nvPr/>
        </p:nvSpPr>
        <p:spPr>
          <a:xfrm>
            <a:off x="3156204" y="3822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1500"/>
          </a:p>
        </p:txBody>
      </p:sp>
      <p:sp>
        <p:nvSpPr>
          <p:cNvPr id="73" name="Text 33">
            <a:extLst>
              <a:ext uri="{FF2B5EF4-FFF2-40B4-BE49-F238E27FC236}">
                <a16:creationId xmlns:a16="http://schemas.microsoft.com/office/drawing/2014/main" id="{D4F7CF7A-FD66-98D8-016E-69DBB8C09BC4}"/>
              </a:ext>
            </a:extLst>
          </p:cNvPr>
          <p:cNvSpPr txBox="1"/>
          <p:nvPr/>
        </p:nvSpPr>
        <p:spPr>
          <a:xfrm>
            <a:off x="4436364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●●●○</a:t>
            </a:r>
            <a:endParaRPr lang="en-US" sz="1000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87477E49-297A-22E9-8037-C8B7E6499874}"/>
              </a:ext>
            </a:extLst>
          </p:cNvPr>
          <p:cNvSpPr txBox="1"/>
          <p:nvPr/>
        </p:nvSpPr>
        <p:spPr>
          <a:xfrm>
            <a:off x="3156204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Pilot-to-Scale</a:t>
            </a:r>
            <a:endParaRPr lang="en-US" sz="1300"/>
          </a:p>
        </p:txBody>
      </p:sp>
      <p:sp>
        <p:nvSpPr>
          <p:cNvPr id="77" name="Shape 35">
            <a:extLst>
              <a:ext uri="{FF2B5EF4-FFF2-40B4-BE49-F238E27FC236}">
                <a16:creationId xmlns:a16="http://schemas.microsoft.com/office/drawing/2014/main" id="{4B52E008-F607-820B-FD5B-D9F0C3EDAD14}"/>
              </a:ext>
            </a:extLst>
          </p:cNvPr>
          <p:cNvSpPr/>
          <p:nvPr/>
        </p:nvSpPr>
        <p:spPr>
          <a:xfrm>
            <a:off x="3019044" y="4498848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12B19683-01AE-5E39-4532-A67A141E06CB}"/>
              </a:ext>
            </a:extLst>
          </p:cNvPr>
          <p:cNvSpPr txBox="1"/>
          <p:nvPr/>
        </p:nvSpPr>
        <p:spPr>
          <a:xfrm>
            <a:off x="3156204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150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6D1E18E3-5879-1514-3B74-1B0177318181}"/>
              </a:ext>
            </a:extLst>
          </p:cNvPr>
          <p:cNvSpPr txBox="1"/>
          <p:nvPr/>
        </p:nvSpPr>
        <p:spPr>
          <a:xfrm>
            <a:off x="4436364" y="4608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000"/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79876736-DA64-C115-9644-4056B0AD5FF1}"/>
              </a:ext>
            </a:extLst>
          </p:cNvPr>
          <p:cNvSpPr txBox="1"/>
          <p:nvPr/>
        </p:nvSpPr>
        <p:spPr>
          <a:xfrm>
            <a:off x="3156204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Advisory-Led</a:t>
            </a:r>
            <a:endParaRPr lang="en-US" sz="1300"/>
          </a:p>
        </p:txBody>
      </p:sp>
      <p:sp>
        <p:nvSpPr>
          <p:cNvPr id="81" name="Shape 39">
            <a:extLst>
              <a:ext uri="{FF2B5EF4-FFF2-40B4-BE49-F238E27FC236}">
                <a16:creationId xmlns:a16="http://schemas.microsoft.com/office/drawing/2014/main" id="{D807048E-0E3F-97AA-F336-0D8A3A367459}"/>
              </a:ext>
            </a:extLst>
          </p:cNvPr>
          <p:cNvSpPr/>
          <p:nvPr/>
        </p:nvSpPr>
        <p:spPr>
          <a:xfrm>
            <a:off x="5579364" y="1645920"/>
            <a:ext cx="237744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6C699ADF-D0FB-84C0-5E61-4FCEB0BBE777}"/>
              </a:ext>
            </a:extLst>
          </p:cNvPr>
          <p:cNvSpPr txBox="1"/>
          <p:nvPr/>
        </p:nvSpPr>
        <p:spPr>
          <a:xfrm>
            <a:off x="5716524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/>
          </a:p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sell process execution</a:t>
            </a:r>
            <a:endParaRPr lang="en-US" sz="1200"/>
          </a:p>
        </p:txBody>
      </p:sp>
      <p:sp>
        <p:nvSpPr>
          <p:cNvPr id="83" name="Shape 41">
            <a:extLst>
              <a:ext uri="{FF2B5EF4-FFF2-40B4-BE49-F238E27FC236}">
                <a16:creationId xmlns:a16="http://schemas.microsoft.com/office/drawing/2014/main" id="{3B527B88-035D-8E93-F33F-98E52EBD3E55}"/>
              </a:ext>
            </a:extLst>
          </p:cNvPr>
          <p:cNvSpPr/>
          <p:nvPr/>
        </p:nvSpPr>
        <p:spPr>
          <a:xfrm>
            <a:off x="5579364" y="2194560"/>
            <a:ext cx="2377440" cy="676656"/>
          </a:xfrm>
          <a:prstGeom prst="rect">
            <a:avLst/>
          </a:prstGeom>
          <a:solidFill>
            <a:srgbClr val="FFFFFF"/>
          </a:solidFill>
          <a:ln w="25400">
            <a:solidFill>
              <a:srgbClr val="F2A93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4" name="Text 42">
            <a:extLst>
              <a:ext uri="{FF2B5EF4-FFF2-40B4-BE49-F238E27FC236}">
                <a16:creationId xmlns:a16="http://schemas.microsoft.com/office/drawing/2014/main" id="{E0F89BA3-9791-0FED-785C-E5C61C4024BF}"/>
              </a:ext>
            </a:extLst>
          </p:cNvPr>
          <p:cNvSpPr txBox="1"/>
          <p:nvPr/>
        </p:nvSpPr>
        <p:spPr>
          <a:xfrm>
            <a:off x="5716524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500"/>
          </a:p>
        </p:txBody>
      </p:sp>
      <p:sp>
        <p:nvSpPr>
          <p:cNvPr id="85" name="Text 43">
            <a:extLst>
              <a:ext uri="{FF2B5EF4-FFF2-40B4-BE49-F238E27FC236}">
                <a16:creationId xmlns:a16="http://schemas.microsoft.com/office/drawing/2014/main" id="{1605EE3C-2252-5169-5A0A-10721F8A6C9C}"/>
              </a:ext>
            </a:extLst>
          </p:cNvPr>
          <p:cNvSpPr txBox="1"/>
          <p:nvPr/>
        </p:nvSpPr>
        <p:spPr>
          <a:xfrm>
            <a:off x="6996684" y="2304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C7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●●●●</a:t>
            </a:r>
            <a:endParaRPr lang="en-US" sz="1000"/>
          </a:p>
        </p:txBody>
      </p:sp>
      <p:sp>
        <p:nvSpPr>
          <p:cNvPr id="86" name="Text 44">
            <a:extLst>
              <a:ext uri="{FF2B5EF4-FFF2-40B4-BE49-F238E27FC236}">
                <a16:creationId xmlns:a16="http://schemas.microsoft.com/office/drawing/2014/main" id="{7D4BBDA7-B015-431A-08B4-96394348F5B3}"/>
              </a:ext>
            </a:extLst>
          </p:cNvPr>
          <p:cNvSpPr txBox="1"/>
          <p:nvPr/>
        </p:nvSpPr>
        <p:spPr>
          <a:xfrm>
            <a:off x="571652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Agentification</a:t>
            </a:r>
            <a:endParaRPr lang="en-US" sz="1300"/>
          </a:p>
        </p:txBody>
      </p:sp>
      <p:sp>
        <p:nvSpPr>
          <p:cNvPr id="87" name="Shape 45">
            <a:extLst>
              <a:ext uri="{FF2B5EF4-FFF2-40B4-BE49-F238E27FC236}">
                <a16:creationId xmlns:a16="http://schemas.microsoft.com/office/drawing/2014/main" id="{F80320F3-878C-8672-5CC4-C6BD751B9802}"/>
              </a:ext>
            </a:extLst>
          </p:cNvPr>
          <p:cNvSpPr/>
          <p:nvPr/>
        </p:nvSpPr>
        <p:spPr>
          <a:xfrm>
            <a:off x="5579364" y="2962656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8" name="Text 46">
            <a:extLst>
              <a:ext uri="{FF2B5EF4-FFF2-40B4-BE49-F238E27FC236}">
                <a16:creationId xmlns:a16="http://schemas.microsoft.com/office/drawing/2014/main" id="{0006936B-68F5-7C43-74A2-7FE2DF05D816}"/>
              </a:ext>
            </a:extLst>
          </p:cNvPr>
          <p:cNvSpPr txBox="1"/>
          <p:nvPr/>
        </p:nvSpPr>
        <p:spPr>
          <a:xfrm>
            <a:off x="5716524" y="3054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500"/>
          </a:p>
        </p:txBody>
      </p:sp>
      <p:sp>
        <p:nvSpPr>
          <p:cNvPr id="89" name="Text 47">
            <a:extLst>
              <a:ext uri="{FF2B5EF4-FFF2-40B4-BE49-F238E27FC236}">
                <a16:creationId xmlns:a16="http://schemas.microsoft.com/office/drawing/2014/main" id="{A7488E78-4E91-A441-C7EF-61D5AD495527}"/>
              </a:ext>
            </a:extLst>
          </p:cNvPr>
          <p:cNvSpPr txBox="1"/>
          <p:nvPr/>
        </p:nvSpPr>
        <p:spPr>
          <a:xfrm>
            <a:off x="6996684" y="3072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●●○○</a:t>
            </a:r>
            <a:endParaRPr lang="en-US" sz="1000"/>
          </a:p>
        </p:txBody>
      </p:sp>
      <p:sp>
        <p:nvSpPr>
          <p:cNvPr id="90" name="Text 48">
            <a:extLst>
              <a:ext uri="{FF2B5EF4-FFF2-40B4-BE49-F238E27FC236}">
                <a16:creationId xmlns:a16="http://schemas.microsoft.com/office/drawing/2014/main" id="{9D10AE78-1E94-BA63-9843-04E2C323E180}"/>
              </a:ext>
            </a:extLst>
          </p:cNvPr>
          <p:cNvSpPr txBox="1"/>
          <p:nvPr/>
        </p:nvSpPr>
        <p:spPr>
          <a:xfrm>
            <a:off x="5716524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Ops</a:t>
            </a:r>
            <a:endParaRPr lang="en-US" sz="1300"/>
          </a:p>
        </p:txBody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4C15CBDF-64AE-5756-BCED-860D493F8D44}"/>
              </a:ext>
            </a:extLst>
          </p:cNvPr>
          <p:cNvSpPr/>
          <p:nvPr/>
        </p:nvSpPr>
        <p:spPr>
          <a:xfrm>
            <a:off x="5579364" y="3730752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2" name="Text 50">
            <a:extLst>
              <a:ext uri="{FF2B5EF4-FFF2-40B4-BE49-F238E27FC236}">
                <a16:creationId xmlns:a16="http://schemas.microsoft.com/office/drawing/2014/main" id="{BBCCAB96-A48C-8248-83DE-344E6F8F0FA9}"/>
              </a:ext>
            </a:extLst>
          </p:cNvPr>
          <p:cNvSpPr txBox="1"/>
          <p:nvPr/>
        </p:nvSpPr>
        <p:spPr>
          <a:xfrm>
            <a:off x="5716524" y="38221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Genpact</a:t>
            </a:r>
            <a:endParaRPr lang="en-US" sz="1500"/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D8763037-A2AC-B52E-55E6-F114FEB74C88}"/>
              </a:ext>
            </a:extLst>
          </p:cNvPr>
          <p:cNvSpPr txBox="1"/>
          <p:nvPr/>
        </p:nvSpPr>
        <p:spPr>
          <a:xfrm>
            <a:off x="6996684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1000"/>
          </a:p>
        </p:txBody>
      </p:sp>
      <p:sp>
        <p:nvSpPr>
          <p:cNvPr id="94" name="Text 52">
            <a:extLst>
              <a:ext uri="{FF2B5EF4-FFF2-40B4-BE49-F238E27FC236}">
                <a16:creationId xmlns:a16="http://schemas.microsoft.com/office/drawing/2014/main" id="{2CAA3201-8EA2-F7C7-A2B4-00654005A4DB}"/>
              </a:ext>
            </a:extLst>
          </p:cNvPr>
          <p:cNvSpPr txBox="1"/>
          <p:nvPr/>
        </p:nvSpPr>
        <p:spPr>
          <a:xfrm>
            <a:off x="5716524" y="4096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Operations-Led</a:t>
            </a:r>
            <a:endParaRPr lang="en-US" sz="1300"/>
          </a:p>
        </p:txBody>
      </p:sp>
      <p:sp>
        <p:nvSpPr>
          <p:cNvPr id="95" name="Shape 53">
            <a:extLst>
              <a:ext uri="{FF2B5EF4-FFF2-40B4-BE49-F238E27FC236}">
                <a16:creationId xmlns:a16="http://schemas.microsoft.com/office/drawing/2014/main" id="{E3BEBCE3-1D5E-2E44-FBE9-DC926BE2C682}"/>
              </a:ext>
            </a:extLst>
          </p:cNvPr>
          <p:cNvSpPr/>
          <p:nvPr/>
        </p:nvSpPr>
        <p:spPr>
          <a:xfrm>
            <a:off x="5579364" y="4498848"/>
            <a:ext cx="2377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6" name="Text 54">
            <a:extLst>
              <a:ext uri="{FF2B5EF4-FFF2-40B4-BE49-F238E27FC236}">
                <a16:creationId xmlns:a16="http://schemas.microsoft.com/office/drawing/2014/main" id="{E6684071-0932-A2A0-8743-6420EF041408}"/>
              </a:ext>
            </a:extLst>
          </p:cNvPr>
          <p:cNvSpPr txBox="1"/>
          <p:nvPr/>
        </p:nvSpPr>
        <p:spPr>
          <a:xfrm>
            <a:off x="5716524" y="4590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Mindtree</a:t>
            </a:r>
            <a:endParaRPr lang="en-US" sz="1500"/>
          </a:p>
        </p:txBody>
      </p:sp>
      <p:sp>
        <p:nvSpPr>
          <p:cNvPr id="97" name="Text 55">
            <a:extLst>
              <a:ext uri="{FF2B5EF4-FFF2-40B4-BE49-F238E27FC236}">
                <a16:creationId xmlns:a16="http://schemas.microsoft.com/office/drawing/2014/main" id="{A7BE5499-6748-FBA8-982C-00BBB1841912}"/>
              </a:ext>
            </a:extLst>
          </p:cNvPr>
          <p:cNvSpPr txBox="1"/>
          <p:nvPr/>
        </p:nvSpPr>
        <p:spPr>
          <a:xfrm>
            <a:off x="6996684" y="4608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>
                <a:solidFill>
                  <a:srgbClr val="3C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●○○○</a:t>
            </a:r>
            <a:endParaRPr lang="en-US" sz="1000"/>
          </a:p>
        </p:txBody>
      </p:sp>
      <p:sp>
        <p:nvSpPr>
          <p:cNvPr id="98" name="Text 56">
            <a:extLst>
              <a:ext uri="{FF2B5EF4-FFF2-40B4-BE49-F238E27FC236}">
                <a16:creationId xmlns:a16="http://schemas.microsoft.com/office/drawing/2014/main" id="{58922813-5E82-272C-F5A7-ED0E072D078F}"/>
              </a:ext>
            </a:extLst>
          </p:cNvPr>
          <p:cNvSpPr txBox="1"/>
          <p:nvPr/>
        </p:nvSpPr>
        <p:spPr>
          <a:xfrm>
            <a:off x="5716524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>
                <a:solidFill>
                  <a:srgbClr val="3C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Engineering-Led</a:t>
            </a:r>
            <a:endParaRPr lang="en-US" sz="1300"/>
          </a:p>
        </p:txBody>
      </p:sp>
      <p:sp>
        <p:nvSpPr>
          <p:cNvPr id="99" name="Shape 57">
            <a:extLst>
              <a:ext uri="{FF2B5EF4-FFF2-40B4-BE49-F238E27FC236}">
                <a16:creationId xmlns:a16="http://schemas.microsoft.com/office/drawing/2014/main" id="{2C35D798-6A98-9AD7-C3D3-53B2AC020791}"/>
              </a:ext>
            </a:extLst>
          </p:cNvPr>
          <p:cNvSpPr/>
          <p:nvPr/>
        </p:nvSpPr>
        <p:spPr>
          <a:xfrm>
            <a:off x="458724" y="5486400"/>
            <a:ext cx="7498080" cy="594360"/>
          </a:xfrm>
          <a:prstGeom prst="rect">
            <a:avLst/>
          </a:prstGeom>
          <a:solidFill>
            <a:srgbClr val="1D265E"/>
          </a:solidFill>
          <a:ln w="12700">
            <a:solidFill>
              <a:srgbClr val="E1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58">
            <a:extLst>
              <a:ext uri="{FF2B5EF4-FFF2-40B4-BE49-F238E27FC236}">
                <a16:creationId xmlns:a16="http://schemas.microsoft.com/office/drawing/2014/main" id="{19F73169-695A-A98A-1D20-6FD667FB4725}"/>
              </a:ext>
            </a:extLst>
          </p:cNvPr>
          <p:cNvSpPr txBox="1"/>
          <p:nvPr/>
        </p:nvSpPr>
        <p:spPr>
          <a:xfrm>
            <a:off x="641604" y="5486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12 leads its pitch with the first step — which process to agentify, what it returns, and in what order to scale.</a:t>
            </a:r>
            <a:endParaRPr lang="en-US" sz="1350">
              <a:solidFill>
                <a:schemeClr val="bg1"/>
              </a:solidFill>
            </a:endParaRPr>
          </a:p>
        </p:txBody>
      </p:sp>
      <p:sp>
        <p:nvSpPr>
          <p:cNvPr id="102" name="Text 60">
            <a:extLst>
              <a:ext uri="{FF2B5EF4-FFF2-40B4-BE49-F238E27FC236}">
                <a16:creationId xmlns:a16="http://schemas.microsoft.com/office/drawing/2014/main" id="{77977AEC-01CB-528B-AC45-AB56B9AF5400}"/>
              </a:ext>
            </a:extLst>
          </p:cNvPr>
          <p:cNvSpPr txBox="1"/>
          <p:nvPr/>
        </p:nvSpPr>
        <p:spPr>
          <a:xfrm>
            <a:off x="8505444" y="1828800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3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ZUCI’S WEDGE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4670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5AD66-BF6F-0288-8801-E7174FFB4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0FF9187-3334-8D9B-CFD2-2F4C30CD0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BF495EFD-D4A3-698A-5D6F-3432716837E9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CDC4962E-5F21-E08F-9604-44DDFF3025C5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13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10EC63-0A02-F21C-1B52-757973B77DA2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77B7437-4722-69A1-77A3-3557A3BBC681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9F81400-E503-F3CC-4409-06660416C338}"/>
              </a:ext>
            </a:extLst>
          </p:cNvPr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· STRATEGIC IMPACT</a:t>
            </a:r>
            <a:endParaRPr lang="en-US" sz="12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67F1A8-5C56-517B-CABC-D9A307F3D1E9}"/>
              </a:ext>
            </a:extLst>
          </p:cNvPr>
          <p:cNvSpPr txBox="1"/>
          <p:nvPr/>
        </p:nvSpPr>
        <p:spPr>
          <a:xfrm>
            <a:off x="548640" y="676656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Projections</a:t>
            </a:r>
            <a:endParaRPr lang="en-US" sz="270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7D99212-0B8A-B190-0DDA-DB5B812F53AD}"/>
              </a:ext>
            </a:extLst>
          </p:cNvPr>
          <p:cNvSpPr/>
          <p:nvPr/>
        </p:nvSpPr>
        <p:spPr>
          <a:xfrm>
            <a:off x="530352" y="1204602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84A5167-D149-3D16-DA2C-F560ADC08326}"/>
              </a:ext>
            </a:extLst>
          </p:cNvPr>
          <p:cNvSpPr txBox="1"/>
          <p:nvPr/>
        </p:nvSpPr>
        <p:spPr>
          <a:xfrm>
            <a:off x="758952" y="126476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1E2761"/>
                </a:solidFill>
                <a:ea typeface="+mn-lt"/>
                <a:cs typeface="+mn-lt"/>
              </a:rPr>
              <a:t>OPEN </a:t>
            </a:r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DDFC48A-DD89-1816-281E-BEC34C7E814A}"/>
              </a:ext>
            </a:extLst>
          </p:cNvPr>
          <p:cNvSpPr txBox="1"/>
          <p:nvPr/>
        </p:nvSpPr>
        <p:spPr>
          <a:xfrm>
            <a:off x="758952" y="16002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110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680C537-3D0D-E542-2F0E-C297B02EAA72}"/>
              </a:ext>
            </a:extLst>
          </p:cNvPr>
          <p:cNvSpPr txBox="1"/>
          <p:nvPr/>
        </p:nvSpPr>
        <p:spPr>
          <a:xfrm>
            <a:off x="548640" y="1945266"/>
            <a:ext cx="31546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/>
              <a:t>Build a high-performing pilot team of Architect, Leads, 4 Developers.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/>
              <a:t>Build Working Solution Accelerators for the 3 Service Lines – Discovery, Design &amp; Implementation, Managed Operations.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C3C463F-0F3C-79F5-B351-98F472E966E5}"/>
              </a:ext>
            </a:extLst>
          </p:cNvPr>
          <p:cNvSpPr txBox="1"/>
          <p:nvPr/>
        </p:nvSpPr>
        <p:spPr>
          <a:xfrm>
            <a:off x="4178808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32B967E-964A-D1C2-354E-A98904709DC2}"/>
              </a:ext>
            </a:extLst>
          </p:cNvPr>
          <p:cNvSpPr/>
          <p:nvPr/>
        </p:nvSpPr>
        <p:spPr>
          <a:xfrm>
            <a:off x="4325112" y="1202436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2CC2C70-E81A-1DE6-4686-11812E8B0F27}"/>
              </a:ext>
            </a:extLst>
          </p:cNvPr>
          <p:cNvSpPr txBox="1"/>
          <p:nvPr/>
        </p:nvSpPr>
        <p:spPr>
          <a:xfrm>
            <a:off x="4503420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1E2761"/>
                </a:solidFill>
                <a:ea typeface="+mn-lt"/>
                <a:cs typeface="+mn-lt"/>
              </a:rPr>
              <a:t>MULTIPLY </a:t>
            </a:r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D0F6D00-49DC-B730-E2B4-6D7484A58DD6}"/>
              </a:ext>
            </a:extLst>
          </p:cNvPr>
          <p:cNvSpPr txBox="1"/>
          <p:nvPr/>
        </p:nvSpPr>
        <p:spPr>
          <a:xfrm>
            <a:off x="4553712" y="157805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9B7B6E21-B834-C55C-DE12-6ACE155E30F3}"/>
              </a:ext>
            </a:extLst>
          </p:cNvPr>
          <p:cNvSpPr txBox="1"/>
          <p:nvPr/>
        </p:nvSpPr>
        <p:spPr>
          <a:xfrm>
            <a:off x="4471416" y="186248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IN" sz="1050"/>
              <a:t>Engage existing clients to identify high-value processes, validate agentic solutions through targeted pilots, and establish measurable ROI.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1BDA69E-61DA-9C3C-0A8D-0DA8B157F276}"/>
              </a:ext>
            </a:extLst>
          </p:cNvPr>
          <p:cNvSpPr txBox="1"/>
          <p:nvPr/>
        </p:nvSpPr>
        <p:spPr>
          <a:xfrm>
            <a:off x="7973568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C4F72A5-FEDA-A23D-C365-77C55E91B8D8}"/>
              </a:ext>
            </a:extLst>
          </p:cNvPr>
          <p:cNvSpPr/>
          <p:nvPr/>
        </p:nvSpPr>
        <p:spPr>
          <a:xfrm>
            <a:off x="8115300" y="1202436"/>
            <a:ext cx="3611880" cy="1691640"/>
          </a:xfrm>
          <a:prstGeom prst="roundRect">
            <a:avLst>
              <a:gd name="adj" fmla="val 3784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9301624D-AD66-8F9F-AC69-7CB1E9B1BEFE}"/>
              </a:ext>
            </a:extLst>
          </p:cNvPr>
          <p:cNvSpPr txBox="1"/>
          <p:nvPr/>
        </p:nvSpPr>
        <p:spPr>
          <a:xfrm>
            <a:off x="8324088" y="128016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1D265E"/>
                </a:solidFill>
                <a:ea typeface="+mn-lt"/>
                <a:cs typeface="+mn-lt"/>
              </a:rPr>
              <a:t>COMPOUND </a:t>
            </a:r>
            <a:endParaRPr lang="en-US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2ECB192-FD52-1ECA-677D-2083672675A6}"/>
              </a:ext>
            </a:extLst>
          </p:cNvPr>
          <p:cNvSpPr txBox="1"/>
          <p:nvPr/>
        </p:nvSpPr>
        <p:spPr>
          <a:xfrm>
            <a:off x="8343900" y="15715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9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2–3</a:t>
            </a:r>
            <a:endParaRPr lang="en-US" sz="1100">
              <a:solidFill>
                <a:srgbClr val="797F8D"/>
              </a:solidFill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23C4F9F8-6AC8-0B56-0CB6-F3AB81341372}"/>
              </a:ext>
            </a:extLst>
          </p:cNvPr>
          <p:cNvSpPr txBox="1"/>
          <p:nvPr/>
        </p:nvSpPr>
        <p:spPr>
          <a:xfrm>
            <a:off x="8261604" y="1693926"/>
            <a:ext cx="31546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1F1F20"/>
                </a:solidFill>
                <a:latin typeface="Calibri"/>
                <a:ea typeface="Calibri"/>
                <a:cs typeface="Calibri"/>
              </a:rPr>
              <a:t>Expand across BFSI + healthcare toward the $15–20M target, via existing </a:t>
            </a:r>
            <a:r>
              <a:rPr lang="en-US" sz="1050" err="1">
                <a:solidFill>
                  <a:srgbClr val="1F1F20"/>
                </a:solidFill>
                <a:latin typeface="Calibri"/>
                <a:ea typeface="Calibri"/>
                <a:cs typeface="Calibri"/>
              </a:rPr>
              <a:t>Zuci</a:t>
            </a:r>
            <a:r>
              <a:rPr lang="en-US" sz="1050">
                <a:solidFill>
                  <a:srgbClr val="1F1F20"/>
                </a:solidFill>
                <a:latin typeface="Calibri"/>
                <a:ea typeface="Calibri"/>
                <a:cs typeface="Calibri"/>
              </a:rPr>
              <a:t> relationships.</a:t>
            </a: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5210AEE0-1C68-48FC-F70D-183ED0501CAC}"/>
              </a:ext>
            </a:extLst>
          </p:cNvPr>
          <p:cNvSpPr/>
          <p:nvPr/>
        </p:nvSpPr>
        <p:spPr>
          <a:xfrm>
            <a:off x="510139" y="3154605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D023238D-7E88-712E-A889-7164DF6691C4}"/>
              </a:ext>
            </a:extLst>
          </p:cNvPr>
          <p:cNvSpPr txBox="1"/>
          <p:nvPr/>
        </p:nvSpPr>
        <p:spPr>
          <a:xfrm>
            <a:off x="787667" y="3334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B3A5D0B3-7E71-299E-DA01-0255E5DE467A}"/>
              </a:ext>
            </a:extLst>
          </p:cNvPr>
          <p:cNvSpPr txBox="1"/>
          <p:nvPr/>
        </p:nvSpPr>
        <p:spPr>
          <a:xfrm>
            <a:off x="787667" y="3787608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via Pilot tier with 1–2 existing </a:t>
            </a:r>
            <a:r>
              <a:rPr lang="en-US" sz="115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</a:t>
            </a: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BFSI/healthcare relationships</a:t>
            </a:r>
            <a:endParaRPr lang="en-US" sz="115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ROI, convert to Program tier</a:t>
            </a:r>
            <a:endParaRPr lang="en-US" sz="115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into adjacent processes within the same account before expanding to new logos</a:t>
            </a:r>
            <a:endParaRPr lang="en-US" sz="115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A7E43F50-3EEA-1451-A7EE-FBE97D4C6055}"/>
              </a:ext>
            </a:extLst>
          </p:cNvPr>
          <p:cNvSpPr/>
          <p:nvPr/>
        </p:nvSpPr>
        <p:spPr>
          <a:xfrm>
            <a:off x="6149741" y="3132301"/>
            <a:ext cx="5532120" cy="2514600"/>
          </a:xfrm>
          <a:prstGeom prst="roundRect">
            <a:avLst>
              <a:gd name="adj" fmla="val 2545"/>
            </a:avLst>
          </a:prstGeom>
          <a:solidFill>
            <a:srgbClr val="F6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3F288707-9B92-C672-4AA3-4FF8F9D79225}"/>
              </a:ext>
            </a:extLst>
          </p:cNvPr>
          <p:cNvSpPr txBox="1"/>
          <p:nvPr/>
        </p:nvSpPr>
        <p:spPr>
          <a:xfrm>
            <a:off x="6355080" y="336303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115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6C0ED6F-AB6E-D113-7079-A45AC273F51C}"/>
              </a:ext>
            </a:extLst>
          </p:cNvPr>
          <p:cNvSpPr txBox="1"/>
          <p:nvPr/>
        </p:nvSpPr>
        <p:spPr>
          <a:xfrm>
            <a:off x="6355080" y="3690166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</a:t>
            </a:r>
            <a:r>
              <a:rPr lang="en-US" sz="115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Zuci</a:t>
            </a: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AI Implementation Partner → Agentic Enterprise Transformation Partner</a:t>
            </a:r>
            <a:endParaRPr lang="en-US" sz="115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Digital Engineering, Architecture Advisory, Data &amp; AI, Modernization Services</a:t>
            </a:r>
            <a:endParaRPr lang="en-US" sz="115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future lines: Governance-as-a-Service, Agent QA/Observability, Industry Agent Platforms</a:t>
            </a:r>
            <a:endParaRPr lang="en-US" sz="115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B16A3EF7-0C9D-54F8-9C22-3177235ECFB6}"/>
              </a:ext>
            </a:extLst>
          </p:cNvPr>
          <p:cNvSpPr txBox="1"/>
          <p:nvPr/>
        </p:nvSpPr>
        <p:spPr>
          <a:xfrm>
            <a:off x="3184759" y="581953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problem. Prove the value. Then scale the transformation.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41938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7354B-C1C0-4DBD-510D-F09E4554A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2B6E75C-5110-440B-3009-8BB0463F7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6499CF39-CB45-D238-5DD0-62469A359644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897C3B2F-6CAC-F64E-59CF-C8DC0FBB2347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14</a:t>
            </a:fld>
            <a:endParaRPr lang="en-US" sz="100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64B648-FE5A-4D7D-8539-4916A6B24D17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63237C8-BF9B-00E9-88CD-DA4EED8AC9F5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B74A2E1-BA92-861A-9D24-02740EB1C442}"/>
              </a:ext>
            </a:extLst>
          </p:cNvPr>
          <p:cNvSpPr txBox="1"/>
          <p:nvPr/>
        </p:nvSpPr>
        <p:spPr>
          <a:xfrm>
            <a:off x="367284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ZUCI</a:t>
            </a:r>
            <a:endParaRPr lang="en-US" sz="12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5F46DA7-E678-11F5-7067-6A21B0A938D7}"/>
              </a:ext>
            </a:extLst>
          </p:cNvPr>
          <p:cNvSpPr txBox="1"/>
          <p:nvPr/>
        </p:nvSpPr>
        <p:spPr>
          <a:xfrm>
            <a:off x="367284" y="576072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2000"/>
              </a:lnSpc>
              <a:buNone/>
            </a:pPr>
            <a:r>
              <a:rPr lang="en-US" sz="27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Brings the Problem.</a:t>
            </a:r>
            <a:endParaRPr lang="en-US" sz="2700"/>
          </a:p>
          <a:p>
            <a:pPr marL="0" indent="0">
              <a:lnSpc>
                <a:spcPct val="102000"/>
              </a:lnSpc>
              <a:buNone/>
            </a:pPr>
            <a:r>
              <a:rPr lang="en-US" sz="2700" b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Bring the Transformation Capability.</a:t>
            </a:r>
            <a:endParaRPr lang="en-US" sz="270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929FC7C-D9CB-1BD3-9EDC-72D0091A645D}"/>
              </a:ext>
            </a:extLst>
          </p:cNvPr>
          <p:cNvSpPr txBox="1"/>
          <p:nvPr/>
        </p:nvSpPr>
        <p:spPr>
          <a:xfrm>
            <a:off x="367284" y="197001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CAPABILITIES</a:t>
            </a:r>
            <a:endParaRPr lang="en-US" sz="120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033FEE0-5E45-F02E-9B19-BE06B6A4FCBE}"/>
              </a:ext>
            </a:extLst>
          </p:cNvPr>
          <p:cNvSpPr/>
          <p:nvPr/>
        </p:nvSpPr>
        <p:spPr>
          <a:xfrm>
            <a:off x="367284" y="2560320"/>
            <a:ext cx="212140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5811364-F7E0-EF6B-F972-28512FC96989}"/>
              </a:ext>
            </a:extLst>
          </p:cNvPr>
          <p:cNvSpPr txBox="1"/>
          <p:nvPr/>
        </p:nvSpPr>
        <p:spPr>
          <a:xfrm>
            <a:off x="458724" y="25603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Engineering</a:t>
            </a:r>
            <a:endParaRPr lang="en-US" sz="110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96F27D4-5390-164D-F11B-573890E20B7A}"/>
              </a:ext>
            </a:extLst>
          </p:cNvPr>
          <p:cNvSpPr/>
          <p:nvPr/>
        </p:nvSpPr>
        <p:spPr>
          <a:xfrm>
            <a:off x="2607564" y="2560320"/>
            <a:ext cx="212140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F764EBF-F432-3F8A-6FBB-312A6B68DC09}"/>
              </a:ext>
            </a:extLst>
          </p:cNvPr>
          <p:cNvSpPr txBox="1"/>
          <p:nvPr/>
        </p:nvSpPr>
        <p:spPr>
          <a:xfrm>
            <a:off x="2699004" y="25603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10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A1B16A3-8532-BFD1-B0DC-7A99ABBB27F6}"/>
              </a:ext>
            </a:extLst>
          </p:cNvPr>
          <p:cNvSpPr/>
          <p:nvPr/>
        </p:nvSpPr>
        <p:spPr>
          <a:xfrm>
            <a:off x="4847844" y="2560320"/>
            <a:ext cx="212140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5EF4329-FD37-3D5E-BE1B-491D0CF4DB8F}"/>
              </a:ext>
            </a:extLst>
          </p:cNvPr>
          <p:cNvSpPr txBox="1"/>
          <p:nvPr/>
        </p:nvSpPr>
        <p:spPr>
          <a:xfrm>
            <a:off x="4939284" y="25603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</a:t>
            </a:r>
            <a:endParaRPr lang="en-US" sz="110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65227F9-B47B-5810-40A2-1041A1AEFE1A}"/>
              </a:ext>
            </a:extLst>
          </p:cNvPr>
          <p:cNvSpPr/>
          <p:nvPr/>
        </p:nvSpPr>
        <p:spPr>
          <a:xfrm>
            <a:off x="7088124" y="2560320"/>
            <a:ext cx="212140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A4FD7F-B9D2-8D60-C5BB-2417B1589438}"/>
              </a:ext>
            </a:extLst>
          </p:cNvPr>
          <p:cNvSpPr txBox="1"/>
          <p:nvPr/>
        </p:nvSpPr>
        <p:spPr>
          <a:xfrm>
            <a:off x="7179564" y="25603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Advisory</a:t>
            </a:r>
            <a:endParaRPr lang="en-US" sz="110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7B3825FA-EF00-AE58-6845-512BE0D8A90C}"/>
              </a:ext>
            </a:extLst>
          </p:cNvPr>
          <p:cNvSpPr/>
          <p:nvPr/>
        </p:nvSpPr>
        <p:spPr>
          <a:xfrm>
            <a:off x="9328404" y="2560320"/>
            <a:ext cx="212140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410EA382-348A-2EA7-48C1-2F64E898FE02}"/>
              </a:ext>
            </a:extLst>
          </p:cNvPr>
          <p:cNvSpPr txBox="1"/>
          <p:nvPr/>
        </p:nvSpPr>
        <p:spPr>
          <a:xfrm>
            <a:off x="9419844" y="2560320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Domain Expertise</a:t>
            </a:r>
            <a:endParaRPr lang="en-US" sz="110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6830CB1-D609-BF59-29C1-815D32291C0E}"/>
              </a:ext>
            </a:extLst>
          </p:cNvPr>
          <p:cNvSpPr txBox="1"/>
          <p:nvPr/>
        </p:nvSpPr>
        <p:spPr>
          <a:xfrm>
            <a:off x="367284" y="3474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PREVENTS COPYING — THE DIFFERENTIATION IS NOT THE LLM</a:t>
            </a:r>
            <a:endParaRPr lang="en-US" sz="120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90A00339-42C1-041D-7629-0E8C38CD3FBC}"/>
              </a:ext>
            </a:extLst>
          </p:cNvPr>
          <p:cNvSpPr/>
          <p:nvPr/>
        </p:nvSpPr>
        <p:spPr>
          <a:xfrm>
            <a:off x="367284" y="38404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5BEE7CD3-1C25-7F41-6C01-ADB783D155AB}"/>
              </a:ext>
            </a:extLst>
          </p:cNvPr>
          <p:cNvSpPr txBox="1"/>
          <p:nvPr/>
        </p:nvSpPr>
        <p:spPr>
          <a:xfrm>
            <a:off x="477012" y="38404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Transformation Methodology</a:t>
            </a:r>
            <a:endParaRPr lang="en-US" sz="110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21E6DC8-9D1E-3892-5321-CA784BF029BD}"/>
              </a:ext>
            </a:extLst>
          </p:cNvPr>
          <p:cNvSpPr/>
          <p:nvPr/>
        </p:nvSpPr>
        <p:spPr>
          <a:xfrm>
            <a:off x="4847844" y="38404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A608A9A-87F9-B61B-904F-91BBAB4BE695}"/>
              </a:ext>
            </a:extLst>
          </p:cNvPr>
          <p:cNvSpPr txBox="1"/>
          <p:nvPr/>
        </p:nvSpPr>
        <p:spPr>
          <a:xfrm>
            <a:off x="4957572" y="38404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10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CE244716-EB00-C910-8385-348D8439CDBE}"/>
              </a:ext>
            </a:extLst>
          </p:cNvPr>
          <p:cNvSpPr/>
          <p:nvPr/>
        </p:nvSpPr>
        <p:spPr>
          <a:xfrm>
            <a:off x="9328404" y="384048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7E80FAA5-D7A7-AF6E-C3EC-17EA627A9388}"/>
              </a:ext>
            </a:extLst>
          </p:cNvPr>
          <p:cNvSpPr txBox="1"/>
          <p:nvPr/>
        </p:nvSpPr>
        <p:spPr>
          <a:xfrm>
            <a:off x="9438132" y="384048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Accelerators</a:t>
            </a:r>
            <a:endParaRPr lang="en-US" sz="110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DB5CA19C-EC82-0E57-5A8C-89A0353D3AA6}"/>
              </a:ext>
            </a:extLst>
          </p:cNvPr>
          <p:cNvSpPr/>
          <p:nvPr/>
        </p:nvSpPr>
        <p:spPr>
          <a:xfrm>
            <a:off x="367284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B4F25635-E963-D139-AA7C-58E6E75A4AB1}"/>
              </a:ext>
            </a:extLst>
          </p:cNvPr>
          <p:cNvSpPr txBox="1"/>
          <p:nvPr/>
        </p:nvSpPr>
        <p:spPr>
          <a:xfrm>
            <a:off x="687324" y="5029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assets: </a:t>
            </a:r>
            <a:r>
              <a:rPr lang="en-US" sz="12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Readiness Framework · Process-to-Agent Mapper · Agent Architecture Templates · Governance Accelerators · BFSI Agent Playbooks — becoming reusable IP.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65820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7577C-6E87-6008-B537-C54C7C8D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82AB2FB-C04C-4C00-81A1-BD2677734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  <p:sp>
        <p:nvSpPr>
          <p:cNvPr id="31" name="2025 ZUCI SYSTEMS">
            <a:extLst>
              <a:ext uri="{FF2B5EF4-FFF2-40B4-BE49-F238E27FC236}">
                <a16:creationId xmlns:a16="http://schemas.microsoft.com/office/drawing/2014/main" id="{0C83F518-44A7-574A-7960-A6325A7249D9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B35097-10A3-DB6B-02F1-3215159E3F20}"/>
              </a:ext>
            </a:extLst>
          </p:cNvPr>
          <p:cNvSpPr/>
          <p:nvPr/>
        </p:nvSpPr>
        <p:spPr>
          <a:xfrm>
            <a:off x="0" y="6802131"/>
            <a:ext cx="12192000" cy="60959"/>
          </a:xfrm>
          <a:prstGeom prst="rect">
            <a:avLst/>
          </a:prstGeom>
          <a:solidFill>
            <a:srgbClr val="04A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AFD2C6CE-B551-E4BC-8010-4E9742A65A05}"/>
              </a:ext>
            </a:extLst>
          </p:cNvPr>
          <p:cNvSpPr/>
          <p:nvPr/>
        </p:nvSpPr>
        <p:spPr>
          <a:xfrm>
            <a:off x="1341120" y="6352960"/>
            <a:ext cx="9509760" cy="341376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 algn="ctr" defTabSz="1219170">
              <a:defRPr/>
            </a:pPr>
            <a:r>
              <a:rPr lang="en-US" sz="933">
                <a:solidFill>
                  <a:prstClr val="black"/>
                </a:solidFill>
                <a:latin typeface="Lato Light"/>
                <a:ea typeface="Lato Light"/>
                <a:cs typeface="Lato Light"/>
              </a:rPr>
              <a:t>www.zucisystems.com  ·  Dallas, TX (HQ)  ·  India  ·  Canada  ·  Belgium . UK . Switzerland</a:t>
            </a:r>
            <a:endParaRPr lang="en-US" sz="933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1" name="Slide Number Placeholder 3">
            <a:extLst>
              <a:ext uri="{FF2B5EF4-FFF2-40B4-BE49-F238E27FC236}">
                <a16:creationId xmlns:a16="http://schemas.microsoft.com/office/drawing/2014/main" id="{801FC9A3-8B74-AD45-0BB9-CF83D1190EAA}"/>
              </a:ext>
            </a:extLst>
          </p:cNvPr>
          <p:cNvSpPr txBox="1">
            <a:spLocks/>
          </p:cNvSpPr>
          <p:nvPr/>
        </p:nvSpPr>
        <p:spPr>
          <a:xfrm>
            <a:off x="9265968" y="640649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77">
              <a:defRPr/>
            </a:pPr>
            <a:fld id="{4B9392C9-60E2-4A0F-A387-DEDE0C205CF8}" type="slidenum">
              <a:rPr lang="en-US" sz="1000">
                <a:solidFill>
                  <a:prstClr val="black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pPr algn="r" defTabSz="914377">
                <a:defRPr/>
              </a:pPr>
              <a:t>15</a:t>
            </a:fld>
            <a:endParaRPr lang="en-US" sz="1000">
              <a:solidFill>
                <a:prstClr val="black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17361A-622E-CE66-5DA1-BB62D14FD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612835"/>
            <a:ext cx="12185522" cy="563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88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840BA-B7B8-4231-9C7B-BD4C4168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B26B4-64AB-15E5-A953-F577B3E43FF3}"/>
              </a:ext>
            </a:extLst>
          </p:cNvPr>
          <p:cNvSpPr/>
          <p:nvPr/>
        </p:nvSpPr>
        <p:spPr>
          <a:xfrm>
            <a:off x="-1" y="945693"/>
            <a:ext cx="12192001" cy="2242120"/>
          </a:xfrm>
          <a:prstGeom prst="roundRect">
            <a:avLst>
              <a:gd name="adj" fmla="val 0"/>
            </a:avLst>
          </a:prstGeom>
          <a:solidFill>
            <a:schemeClr val="bg1">
              <a:alpha val="5999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70194-4B4E-A98F-A13F-B45919C72610}"/>
              </a:ext>
            </a:extLst>
          </p:cNvPr>
          <p:cNvSpPr txBox="1"/>
          <p:nvPr/>
        </p:nvSpPr>
        <p:spPr>
          <a:xfrm>
            <a:off x="321732" y="1610217"/>
            <a:ext cx="11548533" cy="9130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9170"/>
            <a:r>
              <a:rPr lang="en-US" sz="5333" b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Thank You</a:t>
            </a:r>
            <a:endParaRPr lang="en-US" sz="5333" b="1">
              <a:solidFill>
                <a:srgbClr val="0080C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2025 ZUCI SYSTEMS">
            <a:extLst>
              <a:ext uri="{FF2B5EF4-FFF2-40B4-BE49-F238E27FC236}">
                <a16:creationId xmlns:a16="http://schemas.microsoft.com/office/drawing/2014/main" id="{C728D7D9-6924-884E-D9FA-025A8A101229}"/>
              </a:ext>
            </a:extLst>
          </p:cNvPr>
          <p:cNvSpPr/>
          <p:nvPr/>
        </p:nvSpPr>
        <p:spPr>
          <a:xfrm>
            <a:off x="370402" y="6512859"/>
            <a:ext cx="114871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914377">
              <a:lnSpc>
                <a:spcPct val="68000"/>
              </a:lnSpc>
              <a:spcAft>
                <a:spcPts val="600"/>
              </a:spcAft>
              <a:defRPr/>
            </a:pPr>
            <a:r>
              <a:rPr lang="en-US" sz="800">
                <a:solidFill>
                  <a:prstClr val="white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© 2026 ZUCI SYSTEMS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75488-20CD-3D5C-19C7-455E6DDEF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83" y="317812"/>
            <a:ext cx="145827" cy="3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6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3badaa-de8e-496b-83c2-d5321d72b58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5D4A85EAE3CA459CF6E4E5E8861D07" ma:contentTypeVersion="17" ma:contentTypeDescription="Create a new document." ma:contentTypeScope="" ma:versionID="72a0e0fe8954e22f9459311becbbf1e0">
  <xsd:schema xmlns:xsd="http://www.w3.org/2001/XMLSchema" xmlns:xs="http://www.w3.org/2001/XMLSchema" xmlns:p="http://schemas.microsoft.com/office/2006/metadata/properties" xmlns:ns3="3a3badaa-de8e-496b-83c2-d5321d72b589" xmlns:ns4="d277d0f9-a19a-4763-ba0c-ad4525cd4714" targetNamespace="http://schemas.microsoft.com/office/2006/metadata/properties" ma:root="true" ma:fieldsID="12b65f7a20b9b34b9fb8295c1c00f853" ns3:_="" ns4:_="">
    <xsd:import namespace="3a3badaa-de8e-496b-83c2-d5321d72b589"/>
    <xsd:import namespace="d277d0f9-a19a-4763-ba0c-ad4525cd47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3badaa-de8e-496b-83c2-d5321d72b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7d0f9-a19a-4763-ba0c-ad4525cd471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61E176-0334-4C56-A60D-2A02AE349938}">
  <ds:schemaRefs>
    <ds:schemaRef ds:uri="3a3badaa-de8e-496b-83c2-d5321d72b589"/>
    <ds:schemaRef ds:uri="d277d0f9-a19a-4763-ba0c-ad4525cd47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F10215-EDAE-4B29-AAC9-4769E56F0A43}">
  <ds:schemaRefs>
    <ds:schemaRef ds:uri="3a3badaa-de8e-496b-83c2-d5321d72b589"/>
    <ds:schemaRef ds:uri="d277d0f9-a19a-4763-ba0c-ad4525cd47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AE1729B-CA9B-4F17-8E6C-DA8B25CBEB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Bharanitharan Jaganathan</dc:creator>
  <cp:revision>33</cp:revision>
  <dcterms:created xsi:type="dcterms:W3CDTF">2026-04-15T04:28:11Z</dcterms:created>
  <dcterms:modified xsi:type="dcterms:W3CDTF">2026-09-20T08:34:24Z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0x0101008C5D4A85EAE3CA459CF6E4E5E8861D07</vt:lpwstr>
  </property>
  <property fmtid="{D5CDD505-2E9C-101B-9397-08002B2CF9AE}" pid="3" name="MediaServiceImageTags">
    <vt:lpwstr/>
  </property>
</Properties>
</file>