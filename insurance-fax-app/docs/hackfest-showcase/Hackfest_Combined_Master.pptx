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real, running application -- everything shown is live, not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 HACKFEST '26  ·  AGENTIC PRESCRIPTIVE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Governed Action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 Agent Services — Agentic Prescriptive Analytics Hackfest Showcase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tells us what is likely to happen. This deck shows what should happen next.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7772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2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tells us what is likely to happen.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focuses on what should happen next.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message of this showcase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Business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claim intake is slow, inconsistent, and stops at “here's a number.”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31B2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1762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retyping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889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retypes up to 15 fields per claim document by hand.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31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1762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 layer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7889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Faxed/scanned documents often need ad hoc OCR or manual reading.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31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443484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416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cross-checks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29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value against the source is tedious and skipped under time pressure.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160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31B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416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policy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029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even a valid claim?” is a subjective, reviewer-dependent judgment call.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Solutions 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below is real and works well — none alone closes the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131B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75688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187452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874520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counts, status distribution, confidence buckets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478024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0F1830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6791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24780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analytics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478024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confidence, source citation, conflict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081528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131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282696"/>
            <a:ext cx="109728" cy="109728"/>
          </a:xfrm>
          <a:prstGeom prst="ellipse">
            <a:avLst/>
          </a:prstGeom>
          <a:solidFill>
            <a:srgbClr val="F0A8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308152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081528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 + AI extraction confidence, per document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685032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0F1830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886200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34440" y="368503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decisions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685032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configured thresholds route every claim identically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288536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131B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489704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34440" y="428853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4288536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upload → extraction → routing pipeline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0F1830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5093208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34440" y="48920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4892040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 field values, chat answers, assessments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495544"/>
            <a:ext cx="10515600" cy="512064"/>
          </a:xfrm>
          <a:prstGeom prst="roundRect">
            <a:avLst>
              <a:gd name="adj" fmla="val 10714"/>
            </a:avLst>
          </a:prstGeom>
          <a:solidFill>
            <a:srgbClr val="131B2E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5696712"/>
            <a:ext cx="109728" cy="109728"/>
          </a:xfrm>
          <a:prstGeom prst="ellipse">
            <a:avLst/>
          </a:prstGeom>
          <a:solidFill>
            <a:srgbClr val="F0A83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34440" y="54955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5495544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bounded, code-governed AI touch points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Gap Remains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≠ Decision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score is not a decision — someone still has to decide, consistently, auditably.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13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204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(extracted claim fields)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9410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Policy (3 thresholds)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36168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(source citations)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7823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20293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/ audit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6235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measurement (KPI)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1C1330"/>
          </a:solidFill>
          <a:ln w="19050">
            <a:solidFill>
              <a:srgbClr val="B06BF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903720" y="3108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6118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comparing alternative actions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42519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feeding outcomes back into policy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5029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needed to turn a signal into a governed action already exists.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Agentic Prescriptive Analytics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is connecting signal, policy, and AI into a governed decision loop.</a:t>
            </a:r>
            <a:endParaRPr lang="en-US" sz="1300" dirty="0"/>
          </a:p>
        </p:txBody>
      </p:sp>
      <p:pic>
        <p:nvPicPr>
          <p:cNvPr id="6" name="Image 0" descr="D:\Hackfest\insurance-fax-app\docs\hackfest-showcase\Hackfest_Master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903" y="1600200"/>
            <a:ext cx="903388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stack — nothing assumed.</a:t>
            </a:r>
            <a:endParaRPr lang="en-US" sz="1300" dirty="0"/>
          </a:p>
        </p:txBody>
      </p:sp>
      <p:pic>
        <p:nvPicPr>
          <p:cNvPr id="6" name="Image 0" descr="D:\Hackfest\insurance-fax-app\docs\hackfest-showcase\agentic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302" y="1508760"/>
            <a:ext cx="7897091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stack:  </a:t>
            </a:r>
            <a:pPr algn="ctr" indent="0" marL="0">
              <a:buNone/>
            </a:pPr>
            <a:r>
              <a:rPr lang="en-US" sz="11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17.3 · FastAPI (Python) · Google Gemini · in-memory repositories (no database).   </a:t>
            </a:r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present: </a:t>
            </a:r>
            <a:pPr algn="ctr" indent="0" marL="0">
              <a:buNone/>
            </a:pPr>
            <a:r>
              <a:rPr lang="en-US" sz="11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PostgreSQL, Azure OpenAI, OpenAI, Redis, any ML/optimization framework.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Prediction → Rules → Optimization → AI Agent → Outcome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upload, orchestrator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07920" y="3611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9088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F0A8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00528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6248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 + extraction confidence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00528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F0A8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00528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194048" y="3611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95216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6656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POLICY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32376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configured thresholds, domain whitelist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6656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6656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80176" y="3611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1344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F0A8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2784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ROI/Revenue math only — no solver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2784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F0A8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72784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66304" y="3611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67472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58912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04632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bounded Gemini-backed agents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58912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3DDC8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58912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552432" y="36118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753600" y="2194560"/>
            <a:ext cx="1584960" cy="3291840"/>
          </a:xfrm>
          <a:prstGeom prst="roundRect">
            <a:avLst>
              <a:gd name="adj" fmla="val 4615"/>
            </a:avLst>
          </a:prstGeom>
          <a:solidFill>
            <a:srgbClr val="131B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45040" y="2423160"/>
            <a:ext cx="140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90760" y="3154680"/>
            <a:ext cx="131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transition, decision endpoint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845040" y="4983480"/>
            <a:ext cx="1402080" cy="292608"/>
          </a:xfrm>
          <a:prstGeom prst="roundRect">
            <a:avLst>
              <a:gd name="adj" fmla="val 25000"/>
            </a:avLst>
          </a:prstGeom>
          <a:solidFill>
            <a:srgbClr val="3DDC8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845040" y="4983480"/>
            <a:ext cx="140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“AI provides contextual reasoning; deterministic controls provide governance.” — proven four separate times in this codebase.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→ Learning → Next Decision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fields computed by analytics_service.py — not illustrative numbers.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131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2880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Pending / Resolved / Invalid claims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82880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backlog at a glance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0F18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33172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Approved / Pending / Rejected value (INR)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33172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 by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131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283464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distribution (%)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83464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not hardcoded, percentage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0F18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337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confidence fields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337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reliability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4048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131B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84048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Source-mapping success rate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84048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fields with a verifiable citation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6949440" cy="429768"/>
          </a:xfrm>
          <a:prstGeom prst="roundRect">
            <a:avLst>
              <a:gd name="adj" fmla="val 10638"/>
            </a:avLst>
          </a:prstGeom>
          <a:solidFill>
            <a:srgbClr val="0F18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34340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Attention-required queue (HIGH/MED/LOW)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34340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real work backlog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C1330"/>
          </a:solidFill>
          <a:ln w="19050">
            <a:solidFill>
              <a:srgbClr val="B06BF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18388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286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[PROPOSED] — corrections update only the current record, not thresholds or the model.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3429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B2E"/>
          </a:solidFill>
          <a:ln w="19050">
            <a:solidFill>
              <a:srgbClr val="F0A83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DECISION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3886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[PARTIAL] — same static thresholds re-applied to the next uploaded claim.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 — A Representative Scenario</a:t>
            </a:r>
            <a:endParaRPr lang="en-US" sz="3000" dirty="0"/>
          </a:p>
        </p:txBody>
      </p:sp>
      <p:pic>
        <p:nvPicPr>
          <p:cNvPr id="5" name="Image 0" descr="D:\Hackfest\insurance-fax-app\docs\hackfest-showcase\Decision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924031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29871" y="1828800"/>
            <a:ext cx="4957329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with a 78/100 relevance score and 88% average field confidence clears both the invalid (25%) and review (60%) thresholds — it auto-processes.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29871" y="3383280"/>
            <a:ext cx="4957329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agent's AI call still runs (confidence ≥ 60%) to draft a simulated narrative — and code-level overrides remain active regardless.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hypothetical — every box on the right is a verified, working stage today.</a:t>
            </a:r>
            <a:endParaRPr lang="en-US" sz="1300" dirty="0"/>
          </a:p>
        </p:txBody>
      </p:sp>
      <p:pic>
        <p:nvPicPr>
          <p:cNvPr id="6" name="Image 0" descr="D:\Hackfest\insurance-fax-app\docs\hackfest-showcase\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2556743"/>
            <a:ext cx="11247120" cy="3116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Responsible AI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application prevents an AI model from making an uncontrolled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883664" cy="1280160"/>
          </a:xfrm>
          <a:prstGeom prst="roundRect">
            <a:avLst>
              <a:gd name="adj" fmla="val 5714"/>
            </a:avLst>
          </a:prstGeom>
          <a:solidFill>
            <a:srgbClr val="0D2438"/>
          </a:solidFill>
          <a:ln w="19050">
            <a:solidFill>
              <a:srgbClr val="3AA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06624" y="2103120"/>
            <a:ext cx="274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80944" y="2103120"/>
            <a:ext cx="1883664" cy="128016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72384" y="210312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(drafted, not trusted)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103120"/>
            <a:ext cx="274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38928" y="2103120"/>
            <a:ext cx="1883664" cy="128016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0368" y="210312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Policy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2103120"/>
            <a:ext cx="274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96912" y="2103120"/>
            <a:ext cx="1883664" cy="128016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88352" y="210312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103120"/>
            <a:ext cx="274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0B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54896" y="2103120"/>
            <a:ext cx="1883664" cy="1280160"/>
          </a:xfrm>
          <a:prstGeom prst="roundRect">
            <a:avLst>
              <a:gd name="adj" fmla="val 5714"/>
            </a:avLst>
          </a:prstGeom>
          <a:solidFill>
            <a:srgbClr val="131B2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46336" y="210312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SECURITY GAPS (stated plainly, not hidden)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authentication — every API endpoint is fully open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RBAC — one mock role, never checked against a permission table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wide open (allow_origins=["*"]) — a development convenience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tamper-evident audit log — a plain in-memory list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+ Innovation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 decisions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671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policy, applied identically, every time — not a judgment call that varies by reviewer.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97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action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815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score doesn't just sit on a dashboard; it drives a real routing decision, in 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118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construction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9959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cites its source page; every routing decision names its threshold.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26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governance pattern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10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 drafts, code decides” proven four times, not once — evidence it generalizes.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5321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532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06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Augments, doesn't replace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8247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sit on top of existing predictive signals rather than requiring a rebuilt model.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vs. Proposed — Final Capability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131B2E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3063240" cy="292608"/>
          </a:xfrm>
          <a:prstGeom prst="roundRect">
            <a:avLst>
              <a:gd name="adj" fmla="val 25000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965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(10)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231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PDF upload + async pipeline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8254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OCR fallback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2783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extraction + rule-based fallback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3016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verification / conflict detection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325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Policy-threshold routing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434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approval gate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83717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Grounded AI chat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2395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whitelist enforcement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6418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Confidence-based overrides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604418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KPI / audit trail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178308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131B2E"/>
          </a:solidFill>
          <a:ln w="19050">
            <a:solidFill>
              <a:srgbClr val="F0A8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965960"/>
            <a:ext cx="3063240" cy="292608"/>
          </a:xfrm>
          <a:prstGeom prst="roundRect">
            <a:avLst>
              <a:gd name="adj" fmla="val 25000"/>
            </a:avLst>
          </a:prstGeom>
          <a:solidFill>
            <a:srgbClr val="F0A8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1965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IMPLEMENTED (2)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4231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Eligibility lookup (empty backing table)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8254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ROI / Revenue (arithmetic, not optimization)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1783080"/>
            <a:ext cx="3108960" cy="4709160"/>
          </a:xfrm>
          <a:prstGeom prst="roundRect">
            <a:avLst>
              <a:gd name="adj" fmla="val 2353"/>
            </a:avLst>
          </a:prstGeom>
          <a:solidFill>
            <a:srgbClr val="131B2E"/>
          </a:solidFill>
          <a:ln w="19050">
            <a:solidFill>
              <a:srgbClr val="B06B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96596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B06B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19659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(5)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423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True optimization (alternative-action comparison)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8254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 / learning loop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2278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Multi-role RBAC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36301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Backend authentication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40325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Trained prediction model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0:00–1:00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830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tells us what is likely; we show what should happen next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1:00–2:00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377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377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augment, not replace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971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2971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971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≠ 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3:00–4:00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566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5661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signal, policy, and AI into a governed loop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4:00–6:00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60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is source-verified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7548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754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6:00–7:30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4754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Optimization + AI Agent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754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reasons; deterministic controls govern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34924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349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7:30–9:15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5349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Outcome + KPI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5349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delay — no batch layer exists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59436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943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9:15–10:00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377440" y="5943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+ Next Decision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59436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isolated predictions to continuous decision intelligence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029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0F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pitching a new prediction model.”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showing the governed decision layer that sits on top of one — proven four separate times in a single working application.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Governed Action  ·  Zuci Agent Services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2026-09-19T08:03:18Z</dcterms:created>
  <dcterms:modified xsi:type="dcterms:W3CDTF">2026-09-19T08:03:18Z</dcterms:modified>
</cp:coreProperties>
</file>